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2" r:id="rId2"/>
    <p:sldMasterId id="2147483674" r:id="rId3"/>
    <p:sldMasterId id="2147483693" r:id="rId4"/>
  </p:sldMasterIdLst>
  <p:notesMasterIdLst>
    <p:notesMasterId r:id="rId39"/>
  </p:notesMasterIdLst>
  <p:sldIdLst>
    <p:sldId id="268" r:id="rId5"/>
    <p:sldId id="269" r:id="rId6"/>
    <p:sldId id="270" r:id="rId7"/>
    <p:sldId id="271" r:id="rId8"/>
    <p:sldId id="281" r:id="rId9"/>
    <p:sldId id="309" r:id="rId10"/>
    <p:sldId id="308" r:id="rId11"/>
    <p:sldId id="282" r:id="rId12"/>
    <p:sldId id="283" r:id="rId13"/>
    <p:sldId id="284" r:id="rId14"/>
    <p:sldId id="285" r:id="rId15"/>
    <p:sldId id="286" r:id="rId16"/>
    <p:sldId id="287" r:id="rId17"/>
    <p:sldId id="288" r:id="rId18"/>
    <p:sldId id="289" r:id="rId19"/>
    <p:sldId id="310" r:id="rId20"/>
    <p:sldId id="290"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280" r:id="rId3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660"/>
  </p:normalViewPr>
  <p:slideViewPr>
    <p:cSldViewPr snapToGrid="0">
      <p:cViewPr varScale="1">
        <p:scale>
          <a:sx n="93" d="100"/>
          <a:sy n="93" d="100"/>
        </p:scale>
        <p:origin x="1188"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83059F06-3071-495C-9944-1C771F009639}" type="datetimeFigureOut">
              <a:rPr lang="he-IL" smtClean="0"/>
              <a:t>כ"ט/ניסן/תשפ"ו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AAA191C1-7FDA-4538-8CC4-DEE1B444441B}" type="slidenum">
              <a:rPr lang="he-IL" smtClean="0"/>
              <a:t>‹#›</a:t>
            </a:fld>
            <a:endParaRPr lang="he-IL"/>
          </a:p>
        </p:txBody>
      </p:sp>
    </p:spTree>
    <p:extLst>
      <p:ext uri="{BB962C8B-B14F-4D97-AF65-F5344CB8AC3E}">
        <p14:creationId xmlns:p14="http://schemas.microsoft.com/office/powerpoint/2010/main" val="416749944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he-IL"/>
          </a:p>
        </p:txBody>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AAA191C1-7FDA-4538-8CC4-DEE1B444441B}" type="slidenum">
              <a:rPr lang="he-IL" smtClean="0"/>
              <a:t>2</a:t>
            </a:fld>
            <a:endParaRPr lang="he-IL"/>
          </a:p>
        </p:txBody>
      </p:sp>
    </p:spTree>
    <p:extLst>
      <p:ext uri="{BB962C8B-B14F-4D97-AF65-F5344CB8AC3E}">
        <p14:creationId xmlns:p14="http://schemas.microsoft.com/office/powerpoint/2010/main" val="1687643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he-IL"/>
          </a:p>
        </p:txBody>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AAA191C1-7FDA-4538-8CC4-DEE1B444441B}" type="slidenum">
              <a:rPr lang="he-IL" smtClean="0"/>
              <a:t>3</a:t>
            </a:fld>
            <a:endParaRPr lang="he-IL"/>
          </a:p>
        </p:txBody>
      </p:sp>
    </p:spTree>
    <p:extLst>
      <p:ext uri="{BB962C8B-B14F-4D97-AF65-F5344CB8AC3E}">
        <p14:creationId xmlns:p14="http://schemas.microsoft.com/office/powerpoint/2010/main" val="1695906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he-IL"/>
          </a:p>
        </p:txBody>
      </p:sp>
      <p:sp>
        <p:nvSpPr>
          <p:cNvPr id="3" name="מציין מיקום של הערות 2"/>
          <p:cNvSpPr>
            <a:spLocks noGrp="1"/>
          </p:cNvSpPr>
          <p:nvPr>
            <p:ph type="body" idx="1"/>
          </p:nvPr>
        </p:nvSpPr>
        <p:spPr/>
        <p:txBody>
          <a:bodyPr/>
          <a:lstStyle/>
          <a:p>
            <a:r>
              <a:rPr lang="he-IL" dirty="0"/>
              <a:t>חובה למלא תאריך והאם מקורי או מתקן</a:t>
            </a:r>
          </a:p>
          <a:p>
            <a:endParaRPr lang="he-IL" dirty="0"/>
          </a:p>
          <a:p>
            <a:r>
              <a:rPr lang="he-IL" dirty="0"/>
              <a:t>מילוי פרטי המעסיק והעובד</a:t>
            </a:r>
          </a:p>
        </p:txBody>
      </p:sp>
      <p:sp>
        <p:nvSpPr>
          <p:cNvPr id="4" name="מציין מיקום של מספר שקופית 3"/>
          <p:cNvSpPr>
            <a:spLocks noGrp="1"/>
          </p:cNvSpPr>
          <p:nvPr>
            <p:ph type="sldNum" sz="quarter" idx="5"/>
          </p:nvPr>
        </p:nvSpPr>
        <p:spPr/>
        <p:txBody>
          <a:bodyPr/>
          <a:lstStyle/>
          <a:p>
            <a:fld id="{AAA191C1-7FDA-4538-8CC4-DEE1B444441B}" type="slidenum">
              <a:rPr lang="he-IL" smtClean="0"/>
              <a:t>4</a:t>
            </a:fld>
            <a:endParaRPr lang="he-IL"/>
          </a:p>
        </p:txBody>
      </p:sp>
    </p:spTree>
    <p:extLst>
      <p:ext uri="{BB962C8B-B14F-4D97-AF65-F5344CB8AC3E}">
        <p14:creationId xmlns:p14="http://schemas.microsoft.com/office/powerpoint/2010/main" val="210032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A19C8F2-EB31-6F93-28CB-940A659A3FF6}"/>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B3E5000D-9FF8-CA78-C626-F5A1A0265D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CE080A53-4966-D833-6A09-05BDC170C695}"/>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589DB66F-FC4B-B145-620A-DA9DF45A66A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6DD4F17-83F8-F80F-514C-E8823C25C636}"/>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1516713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13B0D9-831F-8DD8-F242-63DECC03211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20FEDAFD-D6A8-873F-EBCC-ADC1C91073F1}"/>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76B6F6B-A3BB-D9A0-3209-46971D848D86}"/>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83B68143-2715-5808-0478-89E3089DC62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1B32617-1E67-59A9-7049-DD810C8EC4FB}"/>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2349880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5835A7-A9C7-E880-5445-740BCBEEA2A7}"/>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62545D2-35BF-6682-464F-80667CC9DF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DC28CE1F-9150-FF9E-AECE-5595A5F96590}"/>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CBBE4EA4-A8E6-A0DB-00E8-91FD00888D3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C3619CF-07F3-703E-6239-6DF29EE68989}"/>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2884950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8E8D27E-6F1A-64DE-BA84-9C58C0CA540D}"/>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610761D-C811-2161-6071-5286A908F267}"/>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16F579E4-CC46-4C16-3ACA-6B66ED325E57}"/>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C89129AF-56B5-3C77-5C0B-BDC1B102BBE5}"/>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6" name="מציין מיקום של כותרת תחתונה 5">
            <a:extLst>
              <a:ext uri="{FF2B5EF4-FFF2-40B4-BE49-F238E27FC236}">
                <a16:creationId xmlns:a16="http://schemas.microsoft.com/office/drawing/2014/main" id="{64247B9B-C4E1-B611-3961-559086BF485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07B84ECB-7DB1-4354-A0B4-057A919D77B9}"/>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2070438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0859741-8BF4-782A-3EC8-96F5484FD43F}"/>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21B5F2C-8051-0C50-9ECE-4101E6BD1F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C69D6B0-CD13-B6F1-77A3-283E859F5DFA}"/>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D508AEFC-944D-4A85-75D1-102B9138AA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3EFB8A0B-7338-A34C-2629-A0987948F34F}"/>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23EAFB17-5D37-52E7-5456-81CD10F501F1}"/>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8" name="מציין מיקום של כותרת תחתונה 7">
            <a:extLst>
              <a:ext uri="{FF2B5EF4-FFF2-40B4-BE49-F238E27FC236}">
                <a16:creationId xmlns:a16="http://schemas.microsoft.com/office/drawing/2014/main" id="{7515A617-5DC7-839D-4588-BDA780E1AB59}"/>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BF833295-C74E-8DB6-169E-69A61D0760F2}"/>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4194439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1E52969-B2E1-2693-31C7-A7E755DC283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27A7851-156E-A051-0776-A816AE41F68B}"/>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4" name="מציין מיקום של כותרת תחתונה 3">
            <a:extLst>
              <a:ext uri="{FF2B5EF4-FFF2-40B4-BE49-F238E27FC236}">
                <a16:creationId xmlns:a16="http://schemas.microsoft.com/office/drawing/2014/main" id="{52914B1A-34F3-DC9C-D05C-0A1C953AFD46}"/>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16DED8EF-818B-0E7E-829D-CC7AECE50D22}"/>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3280285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D6A88428-8703-0E0F-2F56-24B4CEF87B79}"/>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3" name="מציין מיקום של כותרת תחתונה 2">
            <a:extLst>
              <a:ext uri="{FF2B5EF4-FFF2-40B4-BE49-F238E27FC236}">
                <a16:creationId xmlns:a16="http://schemas.microsoft.com/office/drawing/2014/main" id="{CE73D02E-5BAB-2592-2858-86B71E66C50A}"/>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92DA51B8-97B6-12DA-22B2-8350FE6BEF80}"/>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3073471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48A5A1-5B68-6AD3-3277-4EB6822381EE}"/>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7578D7A-CF4E-A15C-F701-E92DC8A278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88F22EFB-D1A2-D92C-608F-CE774144F0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7A996EBE-EBF3-7642-EC0D-08E71342477A}"/>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6" name="מציין מיקום של כותרת תחתונה 5">
            <a:extLst>
              <a:ext uri="{FF2B5EF4-FFF2-40B4-BE49-F238E27FC236}">
                <a16:creationId xmlns:a16="http://schemas.microsoft.com/office/drawing/2014/main" id="{7ADD8CED-033B-6559-7760-9889703C2F7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9A40804D-446D-46D9-7CE9-D0D1E49CDE6C}"/>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153897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8355AD4-F001-8E33-7D26-6B86806F7A9A}"/>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1AD6B4CB-8AEF-B461-F3A0-2892004C29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62BDD25A-A6FB-ED20-C9AC-A1461EB0F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7291685F-B156-353B-B92C-67B2A1DE990A}"/>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6" name="מציין מיקום של כותרת תחתונה 5">
            <a:extLst>
              <a:ext uri="{FF2B5EF4-FFF2-40B4-BE49-F238E27FC236}">
                <a16:creationId xmlns:a16="http://schemas.microsoft.com/office/drawing/2014/main" id="{886F5951-7E4B-DB27-B0CD-5D4D86D5D1C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C66640CF-BF82-96C6-63BC-F881882A2BA7}"/>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813164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45DA664-D463-9285-4DF2-E886C12C3D7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1E93268-9EAF-0312-0767-1B8D30A6F79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3682944-A7E9-C0C1-07D4-C651E306BA23}"/>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762D854D-355C-4D86-CDB8-D696124E832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7153983-94CC-ECC4-6A91-1432D7A7DDF2}"/>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659912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4348324A-D696-F0C7-D57B-5DF35DD78EC8}"/>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C2CCBEF-4AC1-4AD8-BFFB-B7E8454C1E3D}"/>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B0CF4E7-5AA0-EC37-A716-5D362865C34A}"/>
              </a:ext>
            </a:extLst>
          </p:cNvPr>
          <p:cNvSpPr>
            <a:spLocks noGrp="1"/>
          </p:cNvSpPr>
          <p:nvPr>
            <p:ph type="dt" sz="half" idx="10"/>
          </p:nvPr>
        </p:nvSpPr>
        <p:spPr/>
        <p:txBody>
          <a:bodyPr/>
          <a:lstStyle/>
          <a:p>
            <a:fld id="{37D94F49-AB93-48D0-BD55-68958701FF2A}"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AC913EF9-89E4-EB15-0E63-B8F7C12FA0A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E8DCAB9-7E90-ADD5-8A33-FF4C214EC77A}"/>
              </a:ext>
            </a:extLst>
          </p:cNvPr>
          <p:cNvSpPr>
            <a:spLocks noGrp="1"/>
          </p:cNvSpPr>
          <p:nvPr>
            <p:ph type="sldNum" sz="quarter" idx="12"/>
          </p:nvPr>
        </p:nvSpPr>
        <p:spPr/>
        <p:txBody>
          <a:bodyPr/>
          <a:lstStyle/>
          <a:p>
            <a:fld id="{00C865F6-9A53-4CE3-AE13-50A9B649BCFA}" type="slidenum">
              <a:rPr lang="he-IL" smtClean="0"/>
              <a:t>‹#›</a:t>
            </a:fld>
            <a:endParaRPr lang="he-IL"/>
          </a:p>
        </p:txBody>
      </p:sp>
    </p:spTree>
    <p:extLst>
      <p:ext uri="{BB962C8B-B14F-4D97-AF65-F5344CB8AC3E}">
        <p14:creationId xmlns:p14="http://schemas.microsoft.com/office/powerpoint/2010/main" val="2851519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91C7AF35-789E-A82F-F68B-D2647C1FD32D}"/>
              </a:ext>
            </a:extLst>
          </p:cNvPr>
          <p:cNvPicPr>
            <a:picLocks noChangeAspect="1"/>
          </p:cNvPicPr>
          <p:nvPr userDrawn="1"/>
        </p:nvPicPr>
        <p:blipFill>
          <a:blip r:embed="rId2"/>
          <a:stretch>
            <a:fillRect/>
          </a:stretch>
        </p:blipFill>
        <p:spPr>
          <a:xfrm>
            <a:off x="0" y="1"/>
            <a:ext cx="12192000" cy="6779268"/>
          </a:xfrm>
          <a:prstGeom prst="rect">
            <a:avLst/>
          </a:prstGeom>
        </p:spPr>
      </p:pic>
      <p:sp>
        <p:nvSpPr>
          <p:cNvPr id="2" name="מלבן 1">
            <a:extLst>
              <a:ext uri="{FF2B5EF4-FFF2-40B4-BE49-F238E27FC236}">
                <a16:creationId xmlns:a16="http://schemas.microsoft.com/office/drawing/2014/main" id="{2E5793EF-7081-12B0-DF95-FEF068BD5C88}"/>
              </a:ext>
            </a:extLst>
          </p:cNvPr>
          <p:cNvSpPr/>
          <p:nvPr userDrawn="1"/>
        </p:nvSpPr>
        <p:spPr>
          <a:xfrm>
            <a:off x="3615195" y="2967335"/>
            <a:ext cx="4961616" cy="923330"/>
          </a:xfrm>
          <a:prstGeom prst="rect">
            <a:avLst/>
          </a:prstGeom>
          <a:noFill/>
        </p:spPr>
        <p:txBody>
          <a:bodyPr wrap="none" lIns="91440" tIns="45720" rIns="91440" bIns="45720">
            <a:spAutoFit/>
          </a:bodyPr>
          <a:lstStyle/>
          <a:p>
            <a:pPr algn="ctr"/>
            <a:r>
              <a:rPr lang="he-IL" sz="5400" b="1" cap="none" spc="50" dirty="0">
                <a:ln w="0"/>
                <a:solidFill>
                  <a:schemeClr val="bg2">
                    <a:lumMod val="50000"/>
                  </a:schemeClr>
                </a:solidFill>
                <a:effectLst>
                  <a:innerShdw blurRad="63500" dist="50800" dir="13500000">
                    <a:srgbClr val="000000">
                      <a:alpha val="50000"/>
                    </a:srgbClr>
                  </a:innerShdw>
                </a:effectLst>
              </a:rPr>
              <a:t>קרנות השתלמות</a:t>
            </a:r>
          </a:p>
        </p:txBody>
      </p:sp>
    </p:spTree>
    <p:extLst>
      <p:ext uri="{BB962C8B-B14F-4D97-AF65-F5344CB8AC3E}">
        <p14:creationId xmlns:p14="http://schemas.microsoft.com/office/powerpoint/2010/main" val="1503797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9990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פריסה מותאמת אישי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FAB2A8-666B-589E-7D3B-40CFF4F50EF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5F24190C-B2A7-7450-326E-43ADD26CB25B}"/>
              </a:ext>
            </a:extLst>
          </p:cNvPr>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4" name="מציין מיקום של כותרת תחתונה 3">
            <a:extLst>
              <a:ext uri="{FF2B5EF4-FFF2-40B4-BE49-F238E27FC236}">
                <a16:creationId xmlns:a16="http://schemas.microsoft.com/office/drawing/2014/main" id="{2D9D42ED-7360-BC3E-AE46-1C1F38F2A69A}"/>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C8A6553B-7D15-2C64-E074-43149140C64A}"/>
              </a:ext>
            </a:extLst>
          </p:cNvPr>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25736943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nchor="ct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23102246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17021263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37816185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438635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24192945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ריק">
    <p:bg>
      <p:bgPr>
        <a:gradFill rotWithShape="1">
          <a:gsLst>
            <a:gs pos="2000">
              <a:schemeClr val="tx2"/>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59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251937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he-IL"/>
              <a:t>לחץ כדי לערוך סגנון כותרת של תבנית בסיס</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20311329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23659619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10408149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he-IL"/>
              <a:t>לחץ כדי לערוך סגנון כותרת של תבנית בסיס</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4134229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666626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he-IL"/>
              <a:t>לחץ כדי לערוך סגנון כותרת של תבנית בסיס</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he-IL"/>
              <a:t>לחץ כדי לערוך סגנונות טקסט של תבנית בסיס</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799600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he-IL"/>
              <a:t>לחץ כדי לערוך סגנון כותרת של תבנית בסיס</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he-IL"/>
              <a:t>לחץ כדי לערוך סגנונות טקסט של תבנית בסיס</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714511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15223531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77BBDFF-0151-4014-9439-2D9507186CB4}" type="slidenum">
              <a:rPr lang="he-IL" smtClean="0"/>
              <a:t>‹#›</a:t>
            </a:fld>
            <a:endParaRPr lang="he-IL"/>
          </a:p>
        </p:txBody>
      </p:sp>
    </p:spTree>
    <p:extLst>
      <p:ext uri="{BB962C8B-B14F-4D97-AF65-F5344CB8AC3E}">
        <p14:creationId xmlns:p14="http://schemas.microsoft.com/office/powerpoint/2010/main" val="13194506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05ED98B-F9DC-D866-1C44-9E3B9D69B639}"/>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1A0FAEAA-EA88-DF54-2F28-206BC7E7AE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72F86E52-C5F9-6B19-91B1-66D96DD68BB9}"/>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07D9FD41-2AC4-507C-74BF-DA8F470759A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AA51B20-8303-8B06-DB25-EA66E5E85B65}"/>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26420316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F4850E1-03B7-BA84-5D09-4B8753A1423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51BAD78-9C06-C7BA-CEE0-D12A38D6C4F2}"/>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9172381-8D33-49C2-3A92-4ADB27DE5413}"/>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DFE5C3FE-5E93-2666-EED7-55C7B15CD48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A60451C-478F-D70D-D95C-51F95FD554D9}"/>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30646214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0806F0B-7F2A-B4CD-A239-9D1B57675B55}"/>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9582E51D-0866-92C3-6158-0FD12AC054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B81FA163-BE30-4FDE-C180-0FE5EC11274B}"/>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63A78680-87A8-2892-A7C9-5ED12EA8318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0F0E8E9-0346-1D43-A2C0-1134F27999A8}"/>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28165785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FDCAD4D-E217-33F3-7A3F-13500CAE566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0FC740E-A13C-3F89-7E77-4945218BC4B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5C83370A-430A-8043-B2F5-84A6275152BE}"/>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AB753FD1-52ED-2BF8-7B7E-7592720DFE4A}"/>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6" name="מציין מיקום של כותרת תחתונה 5">
            <a:extLst>
              <a:ext uri="{FF2B5EF4-FFF2-40B4-BE49-F238E27FC236}">
                <a16:creationId xmlns:a16="http://schemas.microsoft.com/office/drawing/2014/main" id="{89BD45E7-AD49-9B5A-686C-EB709B4F130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6A79747-B244-28B2-77D2-54778D1A3BC0}"/>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19784066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63BE10A-5533-18AC-1B47-615019B9299D}"/>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C587C672-715C-F885-6E8E-9ADC4551B2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B0019161-FD2C-DDAD-62BA-591C5310E7E9}"/>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3C840CB5-3D00-DE95-8917-3EC3BBDF95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AAB3288-0CB0-2782-2CBF-CA5B4366EBBD}"/>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EBA3D426-8127-F15D-3D0E-56295CEB09DC}"/>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8" name="מציין מיקום של כותרת תחתונה 7">
            <a:extLst>
              <a:ext uri="{FF2B5EF4-FFF2-40B4-BE49-F238E27FC236}">
                <a16:creationId xmlns:a16="http://schemas.microsoft.com/office/drawing/2014/main" id="{9D2D9FA5-4216-4A10-5CC0-290A07601024}"/>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8429E1BD-0964-80BD-52C2-538086088643}"/>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8732182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6127C2-7CD2-C177-EABE-D62B7E2F02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039F3092-B540-27AD-32EB-1C1908919465}"/>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4" name="מציין מיקום של כותרת תחתונה 3">
            <a:extLst>
              <a:ext uri="{FF2B5EF4-FFF2-40B4-BE49-F238E27FC236}">
                <a16:creationId xmlns:a16="http://schemas.microsoft.com/office/drawing/2014/main" id="{E7B9F4E0-CD4F-6EE9-0203-9EB647B59694}"/>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3857E245-36E6-8E36-7A30-D0B587743052}"/>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16549763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36570E33-825C-49B4-85B7-9A897DCE7595}"/>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3" name="מציין מיקום של כותרת תחתונה 2">
            <a:extLst>
              <a:ext uri="{FF2B5EF4-FFF2-40B4-BE49-F238E27FC236}">
                <a16:creationId xmlns:a16="http://schemas.microsoft.com/office/drawing/2014/main" id="{28718784-D6B5-0B56-8B57-C278D3CBBB72}"/>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CB552F87-273C-502D-EF76-34E0202BF1FA}"/>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24287134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51D74A7-F419-C064-6F49-CDC4964AD12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948085AD-FB97-8CCC-4E5E-FD57D31728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FFA68583-2219-4137-159B-8CBBD8D34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4E678147-3997-88DB-350F-5F85ED6EDAC1}"/>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6" name="מציין מיקום של כותרת תחתונה 5">
            <a:extLst>
              <a:ext uri="{FF2B5EF4-FFF2-40B4-BE49-F238E27FC236}">
                <a16:creationId xmlns:a16="http://schemas.microsoft.com/office/drawing/2014/main" id="{312477C6-1890-87C1-4C11-C67D25C2E57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858C2C5F-1A5A-B512-A3B4-6829D9BA5218}"/>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1274340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84E5BE3-36B9-4D96-D071-111BC4EFFF65}"/>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49B05232-6899-2D57-3F77-4BA275C38B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827AC557-F005-1439-1ABD-3EF433DE9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AE54DF4-3BD6-4DD6-FF29-43F609A0FBE2}"/>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6" name="מציין מיקום של כותרת תחתונה 5">
            <a:extLst>
              <a:ext uri="{FF2B5EF4-FFF2-40B4-BE49-F238E27FC236}">
                <a16:creationId xmlns:a16="http://schemas.microsoft.com/office/drawing/2014/main" id="{DBD63F9F-DCFE-6B93-45F1-0F2E026FFAE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745C3AA-6F52-1D8E-747B-A19BC9E9B3BE}"/>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12778927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E362FBB-CA17-72CB-57F2-CC950799B50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063641A-E3B2-35EE-7213-3DD23FE448A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DDECFF1-C424-C88F-67F7-0E93D0D4D4CA}"/>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0AE673A7-D571-1982-08D0-E470946CFBC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BDCE92F-A64F-D17E-4074-CC1F7F4FCFA9}"/>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4917921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041B301D-695C-F2A3-C469-957C1121F5C9}"/>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5DBF9A5-FFFD-5E7D-6334-16116FFBFB8A}"/>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AAD1279-C8EE-7646-F797-4FA65D959220}"/>
              </a:ext>
            </a:extLst>
          </p:cNvPr>
          <p:cNvSpPr>
            <a:spLocks noGrp="1"/>
          </p:cNvSpPr>
          <p:nvPr>
            <p:ph type="dt" sz="half" idx="10"/>
          </p:nvPr>
        </p:nvSpPr>
        <p:spPr/>
        <p:txBody>
          <a:bodyPr/>
          <a:lstStyle/>
          <a:p>
            <a:fld id="{AC7955E0-9462-4D78-99CE-DEA344DBB17E}"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09633D78-676E-647D-F48A-DF516606EE9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9CBB27F-30C3-A14F-CA43-A96631BBE019}"/>
              </a:ext>
            </a:extLst>
          </p:cNvPr>
          <p:cNvSpPr>
            <a:spLocks noGrp="1"/>
          </p:cNvSpPr>
          <p:nvPr>
            <p:ph type="sldNum" sz="quarter" idx="12"/>
          </p:nvPr>
        </p:nvSpPr>
        <p:spPr/>
        <p:txBody>
          <a:bodyPr/>
          <a:lstStyle/>
          <a:p>
            <a:fld id="{FBEDFA67-433E-40A7-BEAF-CB86CC580EC4}" type="slidenum">
              <a:rPr lang="he-IL" smtClean="0"/>
              <a:t>‹#›</a:t>
            </a:fld>
            <a:endParaRPr lang="he-IL"/>
          </a:p>
        </p:txBody>
      </p:sp>
    </p:spTree>
    <p:extLst>
      <p:ext uri="{BB962C8B-B14F-4D97-AF65-F5344CB8AC3E}">
        <p14:creationId xmlns:p14="http://schemas.microsoft.com/office/powerpoint/2010/main" val="147030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theme" Target="../theme/theme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4.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303B0BE-2C67-A75D-0B38-73A22EEEFDC6}"/>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4CE17A7-4463-5DE3-1EC1-36235F868457}"/>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734CFB3-DC73-18A8-0F42-CCE5FD166472}"/>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37D94F49-AB93-48D0-BD55-68958701FF2A}"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F17F8352-D157-42C4-DDF7-15FD4C215A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D1F54EF6-4ECF-082C-7180-102EE6EEFE5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00C865F6-9A53-4CE3-AE13-50A9B649BCFA}" type="slidenum">
              <a:rPr lang="he-IL" smtClean="0"/>
              <a:t>‹#›</a:t>
            </a:fld>
            <a:endParaRPr lang="he-IL"/>
          </a:p>
        </p:txBody>
      </p:sp>
    </p:spTree>
    <p:extLst>
      <p:ext uri="{BB962C8B-B14F-4D97-AF65-F5344CB8AC3E}">
        <p14:creationId xmlns:p14="http://schemas.microsoft.com/office/powerpoint/2010/main" val="1419709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C2AFBDFD-46D3-93DD-B2F1-D8F7A064C145}"/>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C168026C-123E-444A-D733-D3EA07CAE9CC}"/>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DB3C493-3D6E-399F-FDF0-90F6F7A85FA1}"/>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DB005E3D-595D-4C4A-9D08-EE2DBEDCB82A}" type="datetimeFigureOut">
              <a:rPr kumimoji="0" lang="he-IL"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כ"ט/ניסן/תשפ"ו</a:t>
            </a:fld>
            <a:endParaRPr kumimoji="0" lang="he-IL" sz="1200" b="0" i="0" u="none" strike="noStrike" kern="1200" cap="none" spc="0" normalizeH="0" baseline="0" noProof="0">
              <a:ln>
                <a:noFill/>
              </a:ln>
              <a:solidFill>
                <a:prstClr val="black">
                  <a:tint val="82000"/>
                </a:prstClr>
              </a:solidFill>
              <a:effectLst/>
              <a:uLnTx/>
              <a:uFillTx/>
              <a:latin typeface="Aptos" panose="02110004020202020204"/>
              <a:ea typeface="+mn-ea"/>
              <a:cs typeface="Arial" panose="020B0604020202020204" pitchFamily="34" charset="0"/>
            </a:endParaRPr>
          </a:p>
        </p:txBody>
      </p:sp>
      <p:sp>
        <p:nvSpPr>
          <p:cNvPr id="5" name="מציין מיקום של כותרת תחתונה 4">
            <a:extLst>
              <a:ext uri="{FF2B5EF4-FFF2-40B4-BE49-F238E27FC236}">
                <a16:creationId xmlns:a16="http://schemas.microsoft.com/office/drawing/2014/main" id="{FB718902-537F-A61E-E23F-6D1F9B6423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82000"/>
                </a:prstClr>
              </a:solidFill>
              <a:effectLst/>
              <a:uLnTx/>
              <a:uFillTx/>
              <a:latin typeface="Aptos" panose="02110004020202020204"/>
              <a:ea typeface="+mn-ea"/>
              <a:cs typeface="Arial" panose="020B0604020202020204" pitchFamily="34" charset="0"/>
            </a:endParaRPr>
          </a:p>
        </p:txBody>
      </p:sp>
      <p:sp>
        <p:nvSpPr>
          <p:cNvPr id="6" name="מציין מיקום של מספר שקופית 5">
            <a:extLst>
              <a:ext uri="{FF2B5EF4-FFF2-40B4-BE49-F238E27FC236}">
                <a16:creationId xmlns:a16="http://schemas.microsoft.com/office/drawing/2014/main" id="{6C2EF5F4-6541-5ABC-E0D8-8217D2EACBE3}"/>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33833106-7927-478E-B934-2F7A0A756EB3}" type="slidenum">
              <a:rPr kumimoji="0" lang="he-IL"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82000"/>
                </a:prstClr>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677998541"/>
      </p:ext>
    </p:extLst>
  </p:cSld>
  <p:clrMap bg1="lt1" tx1="dk1" bg2="lt2" tx2="dk2" accent1="accent1" accent2="accent2" accent3="accent3" accent4="accent4" accent5="accent5" accent6="accent6" hlink="hlink" folHlink="folHlink"/>
  <p:sldLayoutIdLst>
    <p:sldLayoutId id="2147483673" r:id="rId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7F59E01-1BA9-466A-9A1F-38BBA775BFBC}" type="datetimeFigureOut">
              <a:rPr lang="he-IL" smtClean="0"/>
              <a:t>כ"ט/ניסן/תשפ"ו</a:t>
            </a:fld>
            <a:endParaRPr lang="he-IL"/>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he-IL"/>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F77BBDFF-0151-4014-9439-2D9507186CB4}" type="slidenum">
              <a:rPr lang="he-IL" smtClean="0"/>
              <a:t>‹#›</a:t>
            </a:fld>
            <a:endParaRPr lang="he-IL"/>
          </a:p>
        </p:txBody>
      </p:sp>
    </p:spTree>
    <p:extLst>
      <p:ext uri="{BB962C8B-B14F-4D97-AF65-F5344CB8AC3E}">
        <p14:creationId xmlns:p14="http://schemas.microsoft.com/office/powerpoint/2010/main" val="4124732309"/>
      </p:ext>
    </p:extLst>
  </p:cSld>
  <p:clrMap bg1="dk1" tx1="lt1" bg2="dk2" tx2="lt2" accent1="accent1" accent2="accent2" accent3="accent3" accent4="accent4" accent5="accent5" accent6="accent6" hlink="hlink" folHlink="folHlink"/>
  <p:sldLayoutIdLst>
    <p:sldLayoutId id="2147483675" r:id="rId1"/>
    <p:sldLayoutId id="2147483692"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Lst>
  <p:txStyles>
    <p:titleStyle>
      <a:lvl1pPr algn="l" defTabSz="457200" rtl="1" eaLnBrk="1" latinLnBrk="0" hangingPunct="1">
        <a:spcBef>
          <a:spcPct val="0"/>
        </a:spcBef>
        <a:buNone/>
        <a:defRPr sz="3600" kern="1200" cap="all">
          <a:ln w="3175" cmpd="sng">
            <a:noFill/>
          </a:ln>
          <a:solidFill>
            <a:schemeClr val="tx1"/>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8007DE9B-CBDF-E7C6-EC53-28B81C647433}"/>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7CC6C4C-E9AC-277B-29DB-A298E98AE6D2}"/>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1CF113F-5D5D-08BC-EC02-BED9BC76ABFD}"/>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AC7955E0-9462-4D78-99CE-DEA344DBB17E}" type="datetimeFigureOut">
              <a:rPr lang="he-IL" smtClean="0"/>
              <a:t>כ"ט/ניסן/תשפ"ו</a:t>
            </a:fld>
            <a:endParaRPr lang="he-IL"/>
          </a:p>
        </p:txBody>
      </p:sp>
      <p:sp>
        <p:nvSpPr>
          <p:cNvPr id="5" name="מציין מיקום של כותרת תחתונה 4">
            <a:extLst>
              <a:ext uri="{FF2B5EF4-FFF2-40B4-BE49-F238E27FC236}">
                <a16:creationId xmlns:a16="http://schemas.microsoft.com/office/drawing/2014/main" id="{0C4EA1D3-80A7-43FE-E0AA-2D804BFBFD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7445E4AF-C17C-14B7-0104-7C0BCEE83567}"/>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FBEDFA67-433E-40A7-BEAF-CB86CC580EC4}" type="slidenum">
              <a:rPr lang="he-IL" smtClean="0"/>
              <a:t>‹#›</a:t>
            </a:fld>
            <a:endParaRPr lang="he-IL"/>
          </a:p>
        </p:txBody>
      </p:sp>
    </p:spTree>
    <p:extLst>
      <p:ext uri="{BB962C8B-B14F-4D97-AF65-F5344CB8AC3E}">
        <p14:creationId xmlns:p14="http://schemas.microsoft.com/office/powerpoint/2010/main" val="175457103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11" name="מלבן 10">
            <a:extLst>
              <a:ext uri="{FF2B5EF4-FFF2-40B4-BE49-F238E27FC236}">
                <a16:creationId xmlns:a16="http://schemas.microsoft.com/office/drawing/2014/main" id="{4282A2B3-A3BA-9A5D-AB14-AD7F7FB70F78}"/>
              </a:ext>
            </a:extLst>
          </p:cNvPr>
          <p:cNvSpPr/>
          <p:nvPr/>
        </p:nvSpPr>
        <p:spPr>
          <a:xfrm>
            <a:off x="249382" y="249382"/>
            <a:ext cx="11730182" cy="6363854"/>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95B879DD-F77A-817B-F4DD-6D1977AB3761}"/>
              </a:ext>
            </a:extLst>
          </p:cNvPr>
          <p:cNvSpPr/>
          <p:nvPr/>
        </p:nvSpPr>
        <p:spPr>
          <a:xfrm>
            <a:off x="583854" y="5719679"/>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3" name="מלבן 2">
            <a:extLst>
              <a:ext uri="{FF2B5EF4-FFF2-40B4-BE49-F238E27FC236}">
                <a16:creationId xmlns:a16="http://schemas.microsoft.com/office/drawing/2014/main" id="{9ED14110-C07E-3398-7853-012AE2B3F0DF}"/>
              </a:ext>
            </a:extLst>
          </p:cNvPr>
          <p:cNvSpPr/>
          <p:nvPr/>
        </p:nvSpPr>
        <p:spPr>
          <a:xfrm>
            <a:off x="1877540" y="2235815"/>
            <a:ext cx="8436926" cy="1446550"/>
          </a:xfrm>
          <a:prstGeom prst="rect">
            <a:avLst/>
          </a:prstGeom>
          <a:noFill/>
        </p:spPr>
        <p:txBody>
          <a:bodyPr wrap="none" lIns="91440" tIns="45720" rIns="91440" bIns="45720">
            <a:spAutoFit/>
            <a:scene3d>
              <a:camera prst="obliqueTopRight"/>
              <a:lightRig rig="threePt" dir="t"/>
            </a:scene3d>
          </a:bodyPr>
          <a:lstStyle/>
          <a:p>
            <a:pPr algn="ctr"/>
            <a:r>
              <a:rPr lang="he-IL" sz="8800" b="1" cap="none" spc="50" dirty="0">
                <a:ln w="0">
                  <a:noFill/>
                </a:ln>
                <a:solidFill>
                  <a:schemeClr val="bg2">
                    <a:lumMod val="50000"/>
                  </a:schemeClr>
                </a:solidFill>
                <a:effectLst>
                  <a:outerShdw blurRad="50800" dist="38100" dir="10800000" algn="r" rotWithShape="0">
                    <a:prstClr val="black">
                      <a:alpha val="40000"/>
                    </a:prstClr>
                  </a:outerShdw>
                </a:effectLst>
              </a:rPr>
              <a:t>טופס 161 החדש</a:t>
            </a:r>
          </a:p>
        </p:txBody>
      </p:sp>
      <p:sp>
        <p:nvSpPr>
          <p:cNvPr id="4" name="מלבן 3">
            <a:extLst>
              <a:ext uri="{FF2B5EF4-FFF2-40B4-BE49-F238E27FC236}">
                <a16:creationId xmlns:a16="http://schemas.microsoft.com/office/drawing/2014/main" id="{00CD6E55-EBB7-240A-EE62-F4716998E60D}"/>
              </a:ext>
            </a:extLst>
          </p:cNvPr>
          <p:cNvSpPr/>
          <p:nvPr/>
        </p:nvSpPr>
        <p:spPr>
          <a:xfrm>
            <a:off x="3575072" y="3612331"/>
            <a:ext cx="5258170" cy="769441"/>
          </a:xfrm>
          <a:prstGeom prst="rect">
            <a:avLst/>
          </a:prstGeom>
          <a:noFill/>
        </p:spPr>
        <p:txBody>
          <a:bodyPr wrap="none" lIns="91440" tIns="45720" rIns="91440" bIns="45720">
            <a:spAutoFit/>
            <a:scene3d>
              <a:camera prst="obliqueTopRight"/>
              <a:lightRig rig="threePt" dir="t"/>
            </a:scene3d>
          </a:bodyPr>
          <a:lstStyle/>
          <a:p>
            <a:pPr algn="ctr"/>
            <a:r>
              <a:rPr lang="he-IL" sz="4400" b="1" dirty="0">
                <a:ln w="9525">
                  <a:solidFill>
                    <a:schemeClr val="bg1"/>
                  </a:solidFill>
                  <a:prstDash val="solid"/>
                </a:ln>
                <a:effectLst>
                  <a:outerShdw blurRad="12700" dist="38100" dir="2700000" algn="tl" rotWithShape="0">
                    <a:schemeClr val="bg1">
                      <a:lumMod val="50000"/>
                    </a:schemeClr>
                  </a:outerShdw>
                </a:effectLst>
              </a:rPr>
              <a:t>יום עיון – חשבי שכר</a:t>
            </a:r>
          </a:p>
        </p:txBody>
      </p:sp>
    </p:spTree>
    <p:extLst>
      <p:ext uri="{BB962C8B-B14F-4D97-AF65-F5344CB8AC3E}">
        <p14:creationId xmlns:p14="http://schemas.microsoft.com/office/powerpoint/2010/main" val="3476262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A03D545A-3849-F3EA-69A6-4B152104DA87}"/>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3531CBA1-0A2F-447C-D3A6-E11D5A394833}"/>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E44EC843-45C5-E893-38E2-A6A6B5BB99F7}"/>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2" name="מלבן 11">
            <a:extLst>
              <a:ext uri="{FF2B5EF4-FFF2-40B4-BE49-F238E27FC236}">
                <a16:creationId xmlns:a16="http://schemas.microsoft.com/office/drawing/2014/main" id="{07319C5C-865E-338E-C17C-AAFFB604B53A}"/>
              </a:ext>
            </a:extLst>
          </p:cNvPr>
          <p:cNvSpPr/>
          <p:nvPr/>
        </p:nvSpPr>
        <p:spPr>
          <a:xfrm>
            <a:off x="9069311" y="433667"/>
            <a:ext cx="2584362"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מהו טופס 161?</a:t>
            </a:r>
          </a:p>
        </p:txBody>
      </p:sp>
      <p:sp>
        <p:nvSpPr>
          <p:cNvPr id="13" name="מלבן 12">
            <a:extLst>
              <a:ext uri="{FF2B5EF4-FFF2-40B4-BE49-F238E27FC236}">
                <a16:creationId xmlns:a16="http://schemas.microsoft.com/office/drawing/2014/main" id="{7AC2BC11-C328-FC47-F033-A15D546BA598}"/>
              </a:ext>
            </a:extLst>
          </p:cNvPr>
          <p:cNvSpPr/>
          <p:nvPr/>
        </p:nvSpPr>
        <p:spPr>
          <a:xfrm>
            <a:off x="1300312" y="942867"/>
            <a:ext cx="10353361" cy="1102931"/>
          </a:xfrm>
          <a:prstGeom prst="rect">
            <a:avLst/>
          </a:prstGeom>
          <a:noFill/>
        </p:spPr>
        <p:txBody>
          <a:bodyPr wrap="square" lIns="91440" tIns="45720" rIns="91440" bIns="45720">
            <a:spAutoFit/>
            <a:scene3d>
              <a:camera prst="obliqueTopRight"/>
              <a:lightRig rig="threePt" dir="t"/>
            </a:scene3d>
          </a:bodyPr>
          <a:lstStyle/>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טופס 161, "הודעת מעסיק על פרישה מעבודה של עובד", הוא טופס המוגש לרשות המיסים בעת סיום יחסי עובד-מעסיק. הטופס, בגרסתו החדשה,  אינו רק דיווח של המעסיק, אלא הוא מאחד בתוכו את בחירות העובד ואת הנחיות המעסיק לקופות לגבי ניכוי מס.</a:t>
            </a:r>
          </a:p>
        </p:txBody>
      </p:sp>
      <p:sp>
        <p:nvSpPr>
          <p:cNvPr id="3" name="מלבן 2">
            <a:extLst>
              <a:ext uri="{FF2B5EF4-FFF2-40B4-BE49-F238E27FC236}">
                <a16:creationId xmlns:a16="http://schemas.microsoft.com/office/drawing/2014/main" id="{34740B83-42D0-4180-1FF1-A27794CDBE69}"/>
              </a:ext>
            </a:extLst>
          </p:cNvPr>
          <p:cNvSpPr/>
          <p:nvPr/>
        </p:nvSpPr>
        <p:spPr>
          <a:xfrm>
            <a:off x="8279031" y="2018630"/>
            <a:ext cx="3374642"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מהי פרישה מעבודה?</a:t>
            </a:r>
          </a:p>
        </p:txBody>
      </p:sp>
      <p:sp>
        <p:nvSpPr>
          <p:cNvPr id="6" name="מלבן 5">
            <a:extLst>
              <a:ext uri="{FF2B5EF4-FFF2-40B4-BE49-F238E27FC236}">
                <a16:creationId xmlns:a16="http://schemas.microsoft.com/office/drawing/2014/main" id="{B17F64D9-66C5-BC49-437F-73B3771462BD}"/>
              </a:ext>
            </a:extLst>
          </p:cNvPr>
          <p:cNvSpPr/>
          <p:nvPr/>
        </p:nvSpPr>
        <p:spPr>
          <a:xfrm>
            <a:off x="833120" y="2541850"/>
            <a:ext cx="10820553" cy="4219168"/>
          </a:xfrm>
          <a:prstGeom prst="rect">
            <a:avLst/>
          </a:prstGeom>
          <a:noFill/>
        </p:spPr>
        <p:txBody>
          <a:bodyPr wrap="square" lIns="91440" tIns="45720" rIns="91440" bIns="45720">
            <a:spAutoFit/>
            <a:scene3d>
              <a:camera prst="obliqueTopRight"/>
              <a:lightRig rig="threePt" dir="t"/>
            </a:scene3d>
          </a:bodyPr>
          <a:lstStyle/>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פרישה היא ניתוק מוחלט וסופי של יחסי עובד-מעסיק בשל אחת מהסיבות הבאות:</a:t>
            </a:r>
          </a:p>
          <a:p>
            <a:pPr marL="457200" indent="-457200" algn="just">
              <a:lnSpc>
                <a:spcPts val="2700"/>
              </a:lnSpc>
              <a:buFont typeface="+mj-lt"/>
              <a:buAutoNum type="arabicPeriod"/>
            </a:pPr>
            <a:r>
              <a:rPr lang="he-IL" sz="2000" spc="50" dirty="0">
                <a:ln w="0">
                  <a:noFill/>
                </a:ln>
                <a:solidFill>
                  <a:prstClr val="black">
                    <a:lumMod val="95000"/>
                    <a:lumOff val="5000"/>
                  </a:prstClr>
                </a:solidFill>
                <a:latin typeface="Aptos" panose="02110004020202020204"/>
                <a:cs typeface="Arial" panose="020B0604020202020204" pitchFamily="34" charset="0"/>
              </a:rPr>
              <a:t>פיטורים על ידי מעסיק.</a:t>
            </a:r>
          </a:p>
          <a:p>
            <a:pPr marL="457200" indent="-457200" algn="just">
              <a:lnSpc>
                <a:spcPts val="2700"/>
              </a:lnSpc>
              <a:buFont typeface="+mj-lt"/>
              <a:buAutoNum type="arabicPeriod"/>
            </a:pPr>
            <a:r>
              <a:rPr lang="he-IL" sz="2000" spc="50" dirty="0">
                <a:ln w="0">
                  <a:noFill/>
                </a:ln>
                <a:solidFill>
                  <a:prstClr val="black">
                    <a:lumMod val="95000"/>
                    <a:lumOff val="5000"/>
                  </a:prstClr>
                </a:solidFill>
                <a:latin typeface="Aptos" panose="02110004020202020204"/>
                <a:cs typeface="Arial" panose="020B0604020202020204" pitchFamily="34" charset="0"/>
              </a:rPr>
              <a:t>התפטרות על ידי העובד.</a:t>
            </a:r>
          </a:p>
          <a:p>
            <a:pPr marL="457200" indent="-457200" algn="just">
              <a:lnSpc>
                <a:spcPts val="2700"/>
              </a:lnSpc>
              <a:buFont typeface="+mj-lt"/>
              <a:buAutoNum type="arabicPeriod"/>
            </a:pPr>
            <a:r>
              <a:rPr lang="he-IL" sz="2000" spc="50" dirty="0">
                <a:ln w="0">
                  <a:noFill/>
                </a:ln>
                <a:solidFill>
                  <a:prstClr val="black">
                    <a:lumMod val="95000"/>
                    <a:lumOff val="5000"/>
                  </a:prstClr>
                </a:solidFill>
                <a:latin typeface="Aptos" panose="02110004020202020204"/>
                <a:cs typeface="Arial" panose="020B0604020202020204" pitchFamily="34" charset="0"/>
              </a:rPr>
              <a:t>פרישה לגמלאות בגיל פרישה (גבר-67 ואשה 62-67).</a:t>
            </a:r>
          </a:p>
          <a:p>
            <a:pPr marL="457200" indent="-457200" algn="just">
              <a:lnSpc>
                <a:spcPts val="2700"/>
              </a:lnSpc>
              <a:buFont typeface="+mj-lt"/>
              <a:buAutoNum type="arabicPeriod"/>
            </a:pPr>
            <a:r>
              <a:rPr lang="he-IL" sz="2000" spc="50" dirty="0">
                <a:ln w="0">
                  <a:noFill/>
                </a:ln>
                <a:solidFill>
                  <a:prstClr val="black">
                    <a:lumMod val="95000"/>
                    <a:lumOff val="5000"/>
                  </a:prstClr>
                </a:solidFill>
                <a:latin typeface="Aptos" panose="02110004020202020204"/>
                <a:cs typeface="Arial" panose="020B0604020202020204" pitchFamily="34" charset="0"/>
              </a:rPr>
              <a:t>פרישה עקב פטירה.</a:t>
            </a:r>
          </a:p>
          <a:p>
            <a:pPr marL="457200" indent="-457200" algn="just">
              <a:lnSpc>
                <a:spcPts val="2700"/>
              </a:lnSpc>
              <a:buFont typeface="+mj-lt"/>
              <a:buAutoNum type="arabicPeriod"/>
            </a:pPr>
            <a:r>
              <a:rPr lang="he-IL" sz="2000" spc="50" dirty="0">
                <a:ln w="0">
                  <a:noFill/>
                </a:ln>
                <a:solidFill>
                  <a:prstClr val="black">
                    <a:lumMod val="95000"/>
                    <a:lumOff val="5000"/>
                  </a:prstClr>
                </a:solidFill>
                <a:latin typeface="Aptos" panose="02110004020202020204"/>
                <a:cs typeface="Arial" panose="020B0604020202020204" pitchFamily="34" charset="0"/>
              </a:rPr>
              <a:t>פרישה עקב נכות יציבה של 75% לפחות.</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r>
              <a:rPr lang="he-IL" sz="2000" spc="50" dirty="0">
                <a:ln w="0">
                  <a:noFill/>
                </a:ln>
                <a:solidFill>
                  <a:srgbClr val="FF0000"/>
                </a:solidFill>
                <a:latin typeface="Aptos" panose="02110004020202020204"/>
                <a:cs typeface="Arial" panose="020B0604020202020204" pitchFamily="34" charset="0"/>
              </a:rPr>
              <a:t>חשוב</a:t>
            </a:r>
            <a:r>
              <a:rPr lang="he-IL" sz="2000" spc="50" dirty="0">
                <a:ln w="0">
                  <a:noFill/>
                </a:ln>
                <a:solidFill>
                  <a:prstClr val="black">
                    <a:lumMod val="95000"/>
                    <a:lumOff val="5000"/>
                  </a:prstClr>
                </a:solidFill>
                <a:latin typeface="Aptos" panose="02110004020202020204"/>
                <a:cs typeface="Arial" panose="020B0604020202020204" pitchFamily="34" charset="0"/>
              </a:rPr>
              <a:t>: חזרת העובד למקום העבודה בתקופה שאינה עולה על 6 חודשים מיום העזיבה - רשות המיסים עשויה לראות בכך המשכיות של תקופת העבודה לצורכי פיצויים. במקרה כזה, אם העובד משך פיצויים בפטור, הוא עלול לאבד את ה"רצף" לעניין הוותק בפרישה הסופית, או שיידרש להחזיר את הכספים לקופה כדי לשמור על רצף פיצויים </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p:txBody>
      </p:sp>
    </p:spTree>
    <p:extLst>
      <p:ext uri="{BB962C8B-B14F-4D97-AF65-F5344CB8AC3E}">
        <p14:creationId xmlns:p14="http://schemas.microsoft.com/office/powerpoint/2010/main" val="1857321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F2A35072-B79A-9F68-40D7-D738D36C34A9}"/>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EC6A0D83-9B85-7019-5E87-88644F3D1B00}"/>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5B0B0996-574B-CC71-161C-EA1AB13A46A1}"/>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4" name="מלבן 13">
            <a:extLst>
              <a:ext uri="{FF2B5EF4-FFF2-40B4-BE49-F238E27FC236}">
                <a16:creationId xmlns:a16="http://schemas.microsoft.com/office/drawing/2014/main" id="{BC7E940B-7ACA-985E-B342-70E3C7098E9F}"/>
              </a:ext>
            </a:extLst>
          </p:cNvPr>
          <p:cNvSpPr/>
          <p:nvPr/>
        </p:nvSpPr>
        <p:spPr>
          <a:xfrm>
            <a:off x="9594688" y="2166444"/>
            <a:ext cx="2113079"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מבנה הטופס</a:t>
            </a:r>
          </a:p>
        </p:txBody>
      </p:sp>
      <p:sp>
        <p:nvSpPr>
          <p:cNvPr id="16" name="מלבן 15">
            <a:extLst>
              <a:ext uri="{FF2B5EF4-FFF2-40B4-BE49-F238E27FC236}">
                <a16:creationId xmlns:a16="http://schemas.microsoft.com/office/drawing/2014/main" id="{09C10E1B-D2D3-F6F8-17B7-BDC3BE010B28}"/>
              </a:ext>
            </a:extLst>
          </p:cNvPr>
          <p:cNvSpPr/>
          <p:nvPr/>
        </p:nvSpPr>
        <p:spPr>
          <a:xfrm>
            <a:off x="1271016" y="2718573"/>
            <a:ext cx="10436751" cy="3180422"/>
          </a:xfrm>
          <a:prstGeom prst="rect">
            <a:avLst/>
          </a:prstGeom>
          <a:noFill/>
        </p:spPr>
        <p:txBody>
          <a:bodyPr wrap="square" lIns="91440" tIns="45720" rIns="91440" bIns="45720">
            <a:spAutoFit/>
            <a:scene3d>
              <a:camera prst="obliqueTopRight"/>
              <a:lightRig rig="threePt" dir="t"/>
            </a:scene3d>
          </a:bodyPr>
          <a:lstStyle/>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טופס 161 החדש בנוי משלושה חלקים עיקריים:</a:t>
            </a:r>
            <a:endParaRPr lang="he-IL" sz="2000" dirty="0">
              <a:solidFill>
                <a:prstClr val="black"/>
              </a:solidFill>
              <a:latin typeface="Aptos" panose="02110004020202020204"/>
              <a:cs typeface="Arial" panose="020B0604020202020204" pitchFamily="34" charset="0"/>
            </a:endParaRPr>
          </a:p>
          <a:p>
            <a:pPr marL="457200" indent="-457200" algn="just">
              <a:lnSpc>
                <a:spcPts val="2700"/>
              </a:lnSpc>
              <a:buFont typeface="+mj-lt"/>
              <a:buAutoNum type="arabicPeriod"/>
            </a:pPr>
            <a:r>
              <a:rPr lang="he-IL" sz="2000" u="sng" dirty="0">
                <a:solidFill>
                  <a:prstClr val="black"/>
                </a:solidFill>
                <a:latin typeface="Aptos" panose="02110004020202020204"/>
                <a:cs typeface="Arial" panose="020B0604020202020204" pitchFamily="34" charset="0"/>
              </a:rPr>
              <a:t>חלק א' – הודעת המעסיק </a:t>
            </a:r>
          </a:p>
          <a:p>
            <a:pPr indent="452438" algn="just">
              <a:lnSpc>
                <a:spcPts val="2700"/>
              </a:lnSpc>
              <a:tabLst>
                <a:tab pos="452438" algn="l"/>
              </a:tabLst>
            </a:pPr>
            <a:r>
              <a:rPr lang="he-IL" sz="2000" dirty="0">
                <a:solidFill>
                  <a:prstClr val="black"/>
                </a:solidFill>
                <a:latin typeface="Aptos" panose="02110004020202020204"/>
                <a:cs typeface="Arial" panose="020B0604020202020204" pitchFamily="34" charset="0"/>
              </a:rPr>
              <a:t>בחלק זה יפרט המעסיק את כל הפרטים ביחס לפרישת העובד וזה כולל מועדים וסכומי פיצויים 	</a:t>
            </a:r>
          </a:p>
          <a:p>
            <a:pPr indent="452438" algn="just">
              <a:lnSpc>
                <a:spcPts val="2700"/>
              </a:lnSpc>
              <a:tabLst>
                <a:tab pos="452438" algn="l"/>
              </a:tabLst>
            </a:pPr>
            <a:r>
              <a:rPr lang="he-IL" sz="2000" dirty="0">
                <a:solidFill>
                  <a:prstClr val="black"/>
                </a:solidFill>
                <a:latin typeface="Aptos" panose="02110004020202020204"/>
                <a:cs typeface="Arial" panose="020B0604020202020204" pitchFamily="34" charset="0"/>
              </a:rPr>
              <a:t>העומדים לרשות העובד, בדומה לטופס 161  הישן.</a:t>
            </a:r>
          </a:p>
          <a:p>
            <a:pPr marL="457200" indent="-457200" algn="just">
              <a:lnSpc>
                <a:spcPts val="2700"/>
              </a:lnSpc>
              <a:buFont typeface="+mj-lt"/>
              <a:buAutoNum type="arabicPeriod" startAt="2"/>
            </a:pPr>
            <a:r>
              <a:rPr lang="he-IL" sz="2000" u="sng" dirty="0">
                <a:solidFill>
                  <a:prstClr val="black"/>
                </a:solidFill>
                <a:latin typeface="Aptos" panose="02110004020202020204"/>
                <a:cs typeface="Arial" panose="020B0604020202020204" pitchFamily="34" charset="0"/>
              </a:rPr>
              <a:t>חלק ב' – הודעת העובד </a:t>
            </a:r>
          </a:p>
          <a:p>
            <a:pPr indent="452438" algn="just">
              <a:lnSpc>
                <a:spcPts val="2700"/>
              </a:lnSpc>
            </a:pPr>
            <a:r>
              <a:rPr lang="he-IL" sz="2000" dirty="0">
                <a:solidFill>
                  <a:prstClr val="black"/>
                </a:solidFill>
                <a:latin typeface="Aptos" panose="02110004020202020204"/>
                <a:cs typeface="Arial" panose="020B0604020202020204" pitchFamily="34" charset="0"/>
              </a:rPr>
              <a:t> בחלק זה יפרט העובד את בחירותיו לגבי כספי הפיצויים. </a:t>
            </a:r>
          </a:p>
          <a:p>
            <a:pPr marL="457200" indent="-457200" algn="just">
              <a:lnSpc>
                <a:spcPts val="2700"/>
              </a:lnSpc>
              <a:buFont typeface="+mj-lt"/>
              <a:buAutoNum type="arabicPeriod" startAt="2"/>
            </a:pPr>
            <a:r>
              <a:rPr lang="he-IL" sz="2000" u="sng" dirty="0">
                <a:solidFill>
                  <a:prstClr val="black"/>
                </a:solidFill>
                <a:latin typeface="Aptos" panose="02110004020202020204"/>
                <a:cs typeface="Arial" panose="020B0604020202020204" pitchFamily="34" charset="0"/>
              </a:rPr>
              <a:t>חלק ג' – הנחיות המעסיק </a:t>
            </a:r>
          </a:p>
          <a:p>
            <a:pPr indent="452438" algn="just">
              <a:lnSpc>
                <a:spcPts val="2700"/>
              </a:lnSpc>
            </a:pPr>
            <a:r>
              <a:rPr lang="he-IL" sz="2000" dirty="0">
                <a:solidFill>
                  <a:prstClr val="black"/>
                </a:solidFill>
                <a:latin typeface="Aptos" panose="02110004020202020204"/>
                <a:cs typeface="Arial" panose="020B0604020202020204" pitchFamily="34" charset="0"/>
              </a:rPr>
              <a:t>בחלק זה המעסיק ינחה את הקופות ביחס לאפיון הכספים וניכויי המס, בהתאם לחלופות</a:t>
            </a:r>
          </a:p>
          <a:p>
            <a:pPr indent="452438" algn="just">
              <a:lnSpc>
                <a:spcPts val="2700"/>
              </a:lnSpc>
            </a:pPr>
            <a:r>
              <a:rPr lang="he-IL" sz="2000" spc="50" dirty="0">
                <a:ln w="0">
                  <a:noFill/>
                </a:ln>
                <a:solidFill>
                  <a:prstClr val="black"/>
                </a:solidFill>
                <a:latin typeface="Aptos" panose="02110004020202020204"/>
                <a:cs typeface="Arial" panose="020B0604020202020204" pitchFamily="34" charset="0"/>
              </a:rPr>
              <a:t>ובכפוף לתנאים המפורטים בטופס.</a:t>
            </a:r>
            <a:endParaRPr lang="he-IL" sz="2000" spc="50" dirty="0">
              <a:ln w="0">
                <a:noFill/>
              </a:ln>
              <a:solidFill>
                <a:prstClr val="black">
                  <a:lumMod val="95000"/>
                  <a:lumOff val="5000"/>
                </a:prstClr>
              </a:solidFill>
              <a:latin typeface="Aptos" panose="02110004020202020204"/>
              <a:cs typeface="Arial" panose="020B0604020202020204" pitchFamily="34" charset="0"/>
            </a:endParaRPr>
          </a:p>
        </p:txBody>
      </p:sp>
      <p:sp>
        <p:nvSpPr>
          <p:cNvPr id="5" name="מלבן 4">
            <a:extLst>
              <a:ext uri="{FF2B5EF4-FFF2-40B4-BE49-F238E27FC236}">
                <a16:creationId xmlns:a16="http://schemas.microsoft.com/office/drawing/2014/main" id="{383FCE8B-FE71-3427-72C1-A86676F8DFBB}"/>
              </a:ext>
            </a:extLst>
          </p:cNvPr>
          <p:cNvSpPr/>
          <p:nvPr/>
        </p:nvSpPr>
        <p:spPr>
          <a:xfrm>
            <a:off x="5773129" y="517220"/>
            <a:ext cx="5934638"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מהם הכספים הנכללים כמענק פרישה?</a:t>
            </a:r>
          </a:p>
        </p:txBody>
      </p:sp>
      <p:sp>
        <p:nvSpPr>
          <p:cNvPr id="7" name="תיבת טקסט 6">
            <a:extLst>
              <a:ext uri="{FF2B5EF4-FFF2-40B4-BE49-F238E27FC236}">
                <a16:creationId xmlns:a16="http://schemas.microsoft.com/office/drawing/2014/main" id="{47101BC7-DEB4-D1F0-090B-51240F4F7E22}"/>
              </a:ext>
            </a:extLst>
          </p:cNvPr>
          <p:cNvSpPr txBox="1"/>
          <p:nvPr/>
        </p:nvSpPr>
        <p:spPr>
          <a:xfrm>
            <a:off x="872127" y="1040440"/>
            <a:ext cx="10835640" cy="1097095"/>
          </a:xfrm>
          <a:prstGeom prst="rect">
            <a:avLst/>
          </a:prstGeom>
          <a:noFill/>
        </p:spPr>
        <p:txBody>
          <a:bodyPr wrap="square">
            <a:spAutoFit/>
          </a:bodyPr>
          <a:lstStyle/>
          <a:p>
            <a:pPr algn="just">
              <a:lnSpc>
                <a:spcPts val="2700"/>
              </a:lnSpc>
            </a:pPr>
            <a:r>
              <a:rPr lang="he-IL" sz="1800" spc="50" dirty="0">
                <a:ln w="0">
                  <a:noFill/>
                </a:ln>
                <a:solidFill>
                  <a:prstClr val="black">
                    <a:lumMod val="95000"/>
                    <a:lumOff val="5000"/>
                  </a:prstClr>
                </a:solidFill>
                <a:latin typeface="Aptos" panose="02110004020202020204"/>
                <a:cs typeface="Arial" panose="020B0604020202020204" pitchFamily="34" charset="0"/>
              </a:rPr>
              <a:t>ככלל, כל התשלומים הנובעים מהפרישה מכונים "מענק פרישה" כדוג' פדיון ימי מחלה, מענק הסתגלות, מענק שנים עודפות ופיצוי בגין אי הודעה מוקדמת. </a:t>
            </a:r>
            <a:r>
              <a:rPr lang="he-IL" sz="1800" u="sng" spc="50" dirty="0">
                <a:ln w="0">
                  <a:noFill/>
                </a:ln>
                <a:solidFill>
                  <a:prstClr val="black">
                    <a:lumMod val="95000"/>
                    <a:lumOff val="5000"/>
                  </a:prstClr>
                </a:solidFill>
                <a:latin typeface="Aptos" panose="02110004020202020204"/>
                <a:cs typeface="Arial" panose="020B0604020202020204" pitchFamily="34" charset="0"/>
              </a:rPr>
              <a:t>החריג לכלל</a:t>
            </a:r>
            <a:r>
              <a:rPr lang="he-IL" sz="1800" spc="50" dirty="0">
                <a:ln w="0">
                  <a:noFill/>
                </a:ln>
                <a:solidFill>
                  <a:prstClr val="black">
                    <a:lumMod val="95000"/>
                    <a:lumOff val="5000"/>
                  </a:prstClr>
                </a:solidFill>
                <a:latin typeface="Aptos" panose="02110004020202020204"/>
                <a:cs typeface="Arial" panose="020B0604020202020204" pitchFamily="34" charset="0"/>
              </a:rPr>
              <a:t>, תשלומים כדוג' פדיון ימי חופשה, מענק אי תחרות, מענק "שיקול דעת", אשר אינם באים בגדר מענק פרישה.</a:t>
            </a:r>
          </a:p>
        </p:txBody>
      </p:sp>
    </p:spTree>
    <p:extLst>
      <p:ext uri="{BB962C8B-B14F-4D97-AF65-F5344CB8AC3E}">
        <p14:creationId xmlns:p14="http://schemas.microsoft.com/office/powerpoint/2010/main" val="3801796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328396A2-FFE6-E4F9-C817-2FCD86F1EEFF}"/>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390CF806-348A-BBEA-64E7-553BE1DDB6B2}"/>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28711806-B390-EE62-89E6-E69D01498839}"/>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8D5A513E-359C-7D83-3BB6-07ADF4657ACF}"/>
              </a:ext>
            </a:extLst>
          </p:cNvPr>
          <p:cNvSpPr/>
          <p:nvPr/>
        </p:nvSpPr>
        <p:spPr>
          <a:xfrm>
            <a:off x="7826131" y="471023"/>
            <a:ext cx="3781806"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a:t>
            </a:r>
          </a:p>
        </p:txBody>
      </p:sp>
      <p:sp>
        <p:nvSpPr>
          <p:cNvPr id="8" name="מלבן 7">
            <a:extLst>
              <a:ext uri="{FF2B5EF4-FFF2-40B4-BE49-F238E27FC236}">
                <a16:creationId xmlns:a16="http://schemas.microsoft.com/office/drawing/2014/main" id="{F3CCFED4-C90E-2CF9-E712-1C83B0E96C32}"/>
              </a:ext>
            </a:extLst>
          </p:cNvPr>
          <p:cNvSpPr/>
          <p:nvPr/>
        </p:nvSpPr>
        <p:spPr>
          <a:xfrm>
            <a:off x="1254576" y="4019888"/>
            <a:ext cx="10353361" cy="2141677"/>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חובה לבחור האם מדובר בטופס מקורי או טופס מתקן וכן את התאריך. אם בחרנו טופס מתקן נדרש להגיש לעובד שוב את הטופס כדי שימלא שוב את בחירותיו.</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בחלק א.1 נמלא את הפרטים האישיים של העובד ופרטי ההתקשרות איתו.</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בחלק א2. נמלא את פרטי המעסיק, פרטי ההתקשרות ותיק הניכויים של המעסיק.</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ציון לגבי בעל השליטה או קרובו נועד עבור רשות המיסים לצורך בדיקה מדוקדקת יותר ביחס לפרישה אמיתית ולסכומי המענק.</a:t>
            </a:r>
          </a:p>
        </p:txBody>
      </p:sp>
      <p:pic>
        <p:nvPicPr>
          <p:cNvPr id="10" name="תמונה 9">
            <a:extLst>
              <a:ext uri="{FF2B5EF4-FFF2-40B4-BE49-F238E27FC236}">
                <a16:creationId xmlns:a16="http://schemas.microsoft.com/office/drawing/2014/main" id="{8B78B4BA-C5FF-6096-7045-BEF26CF50C0E}"/>
              </a:ext>
            </a:extLst>
          </p:cNvPr>
          <p:cNvPicPr>
            <a:picLocks noChangeAspect="1"/>
          </p:cNvPicPr>
          <p:nvPr/>
        </p:nvPicPr>
        <p:blipFill>
          <a:blip r:embed="rId3"/>
          <a:stretch>
            <a:fillRect/>
          </a:stretch>
        </p:blipFill>
        <p:spPr>
          <a:xfrm>
            <a:off x="3390073" y="1039524"/>
            <a:ext cx="8217864" cy="2695951"/>
          </a:xfrm>
          <a:prstGeom prst="rect">
            <a:avLst/>
          </a:prstGeom>
        </p:spPr>
      </p:pic>
    </p:spTree>
    <p:extLst>
      <p:ext uri="{BB962C8B-B14F-4D97-AF65-F5344CB8AC3E}">
        <p14:creationId xmlns:p14="http://schemas.microsoft.com/office/powerpoint/2010/main" val="344978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E8BBEF88-B82D-27E1-6557-36BA025917A2}"/>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E075C14A-C258-4B38-A409-B37CBA32319E}"/>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B32590C2-BEA4-881B-CE66-A4FAE93BBAE9}"/>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5C35783E-E8D2-9A11-0D60-0AA0C6C1BEB1}"/>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20D98567-778F-6F40-7757-A6A139AEEF41}"/>
              </a:ext>
            </a:extLst>
          </p:cNvPr>
          <p:cNvSpPr/>
          <p:nvPr/>
        </p:nvSpPr>
        <p:spPr>
          <a:xfrm>
            <a:off x="1389138" y="2829483"/>
            <a:ext cx="10353361" cy="3526671"/>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בחלק א.3 נמלא את סיבת הפרישה. </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ביחס לנכות יציבה של 75% לפחות חשוב כי פרישתו של העובד מהעבודה קשורה בקשר סיבתי ברור לנכות זו.</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לסיבת הפרישה יש חשיבות רבה לעניין הטבות המס. </a:t>
            </a:r>
          </a:p>
          <a:p>
            <a:pPr algn="just">
              <a:lnSpc>
                <a:spcPts val="2700"/>
              </a:lnSpc>
            </a:pPr>
            <a:endParaRPr lang="he-IL" sz="2000" u="sng"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r>
              <a:rPr lang="he-IL" sz="2000" u="sng" spc="50" dirty="0">
                <a:ln w="0">
                  <a:noFill/>
                </a:ln>
                <a:solidFill>
                  <a:prstClr val="black">
                    <a:lumMod val="95000"/>
                    <a:lumOff val="5000"/>
                  </a:prstClr>
                </a:solidFill>
                <a:latin typeface="Aptos" panose="02110004020202020204"/>
                <a:cs typeface="Arial" panose="020B0604020202020204" pitchFamily="34" charset="0"/>
              </a:rPr>
              <a:t>יציאה לגימלאות, פיטורין או התפטרות </a:t>
            </a:r>
          </a:p>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מענק הפרישה יחושב כך:</a:t>
            </a:r>
          </a:p>
          <a:p>
            <a:pPr marL="534988" indent="-268288"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הנמוך מבין משכורת חודשית אחרונה </a:t>
            </a:r>
            <a:r>
              <a:rPr lang="en-US" sz="2000" spc="50" dirty="0">
                <a:ln w="0">
                  <a:noFill/>
                </a:ln>
                <a:solidFill>
                  <a:prstClr val="black">
                    <a:lumMod val="95000"/>
                    <a:lumOff val="5000"/>
                  </a:prstClr>
                </a:solidFill>
                <a:latin typeface="Aptos" panose="02110004020202020204"/>
                <a:cs typeface="Arial" panose="020B0604020202020204" pitchFamily="34" charset="0"/>
              </a:rPr>
              <a:t>X</a:t>
            </a:r>
            <a:r>
              <a:rPr lang="he-IL" sz="2000" spc="50" dirty="0">
                <a:ln w="0">
                  <a:noFill/>
                </a:ln>
                <a:solidFill>
                  <a:prstClr val="black">
                    <a:lumMod val="95000"/>
                    <a:lumOff val="5000"/>
                  </a:prstClr>
                </a:solidFill>
                <a:latin typeface="Aptos" panose="02110004020202020204"/>
                <a:cs typeface="Arial" panose="020B0604020202020204" pitchFamily="34" charset="0"/>
              </a:rPr>
              <a:t> 150% או תקרת השכר לפטור, </a:t>
            </a:r>
          </a:p>
          <a:p>
            <a:pPr marL="534988"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13,750 ₪ לשנת 2026. </a:t>
            </a:r>
          </a:p>
          <a:p>
            <a:pPr marL="534988" indent="-268288"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התוצאה מוכפלת במספר שנות העבודה כולל חלקי שנות עבודה.</a:t>
            </a:r>
          </a:p>
        </p:txBody>
      </p:sp>
      <p:pic>
        <p:nvPicPr>
          <p:cNvPr id="4" name="תמונה 3">
            <a:extLst>
              <a:ext uri="{FF2B5EF4-FFF2-40B4-BE49-F238E27FC236}">
                <a16:creationId xmlns:a16="http://schemas.microsoft.com/office/drawing/2014/main" id="{1CDC3DDD-8693-88C5-9391-F81B9A8A3D62}"/>
              </a:ext>
            </a:extLst>
          </p:cNvPr>
          <p:cNvPicPr>
            <a:picLocks noChangeAspect="1"/>
          </p:cNvPicPr>
          <p:nvPr/>
        </p:nvPicPr>
        <p:blipFill>
          <a:blip r:embed="rId2"/>
          <a:stretch>
            <a:fillRect/>
          </a:stretch>
        </p:blipFill>
        <p:spPr>
          <a:xfrm>
            <a:off x="4685016" y="1038033"/>
            <a:ext cx="6846189" cy="1674345"/>
          </a:xfrm>
          <a:prstGeom prst="rect">
            <a:avLst/>
          </a:prstGeom>
        </p:spPr>
      </p:pic>
    </p:spTree>
    <p:extLst>
      <p:ext uri="{BB962C8B-B14F-4D97-AF65-F5344CB8AC3E}">
        <p14:creationId xmlns:p14="http://schemas.microsoft.com/office/powerpoint/2010/main" val="3113490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8645A347-4F9F-CD5D-53EB-FC7A195C6FB9}"/>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14BCC5AD-F853-E429-6A90-17F17744187F}"/>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BE767B88-749F-48DC-E8F3-B2CC7114B7CD}"/>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73D9F03E-D3F9-A087-EBEE-5D287234BDC6}"/>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F178CF22-504E-C3ED-3A2C-C2505A3A9EA5}"/>
              </a:ext>
            </a:extLst>
          </p:cNvPr>
          <p:cNvSpPr/>
          <p:nvPr/>
        </p:nvSpPr>
        <p:spPr>
          <a:xfrm>
            <a:off x="1389138" y="3177407"/>
            <a:ext cx="10353361" cy="1449179"/>
          </a:xfrm>
          <a:prstGeom prst="rect">
            <a:avLst/>
          </a:prstGeom>
          <a:noFill/>
        </p:spPr>
        <p:txBody>
          <a:bodyPr wrap="square" lIns="91440" tIns="45720" rIns="91440" bIns="45720">
            <a:spAutoFit/>
            <a:scene3d>
              <a:camera prst="obliqueTopRight"/>
              <a:lightRig rig="threePt" dir="t"/>
            </a:scene3d>
          </a:bodyPr>
          <a:lstStyle/>
          <a:p>
            <a:pPr algn="just">
              <a:lnSpc>
                <a:spcPts val="2700"/>
              </a:lnSpc>
            </a:pPr>
            <a:r>
              <a:rPr lang="he-IL" sz="2000" u="sng" spc="50" dirty="0">
                <a:ln w="0">
                  <a:noFill/>
                </a:ln>
                <a:solidFill>
                  <a:prstClr val="black">
                    <a:lumMod val="95000"/>
                    <a:lumOff val="5000"/>
                  </a:prstClr>
                </a:solidFill>
                <a:latin typeface="Aptos" panose="02110004020202020204"/>
                <a:cs typeface="Arial" panose="020B0604020202020204" pitchFamily="34" charset="0"/>
              </a:rPr>
              <a:t>פטירה </a:t>
            </a: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מענק הפרישה יחושב כך:</a:t>
            </a:r>
          </a:p>
          <a:p>
            <a:pPr marL="534988" indent="-268288"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הנמוך מבין משכורת </a:t>
            </a:r>
            <a:r>
              <a:rPr lang="en-US" sz="2000" spc="50" dirty="0">
                <a:ln w="0">
                  <a:noFill/>
                </a:ln>
                <a:solidFill>
                  <a:prstClr val="black">
                    <a:lumMod val="95000"/>
                    <a:lumOff val="5000"/>
                  </a:prstClr>
                </a:solidFill>
                <a:latin typeface="Aptos" panose="02110004020202020204"/>
                <a:cs typeface="Arial" panose="020B0604020202020204" pitchFamily="34" charset="0"/>
              </a:rPr>
              <a:t>X</a:t>
            </a:r>
            <a:r>
              <a:rPr lang="he-IL" sz="2000" spc="50" dirty="0">
                <a:ln w="0">
                  <a:noFill/>
                </a:ln>
                <a:solidFill>
                  <a:prstClr val="black">
                    <a:lumMod val="95000"/>
                    <a:lumOff val="5000"/>
                  </a:prstClr>
                </a:solidFill>
                <a:latin typeface="Aptos" panose="02110004020202020204"/>
                <a:cs typeface="Arial" panose="020B0604020202020204" pitchFamily="34" charset="0"/>
              </a:rPr>
              <a:t> 2 או תקרת השכר לפטור עבור פטירה, 27,520 ₪ לשנת 2026. </a:t>
            </a:r>
          </a:p>
          <a:p>
            <a:pPr marL="534988" indent="-268288"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התוצאה מוכפלת במספר שנות העבודה כולל חלקי שנות עבודה.</a:t>
            </a:r>
          </a:p>
        </p:txBody>
      </p:sp>
      <p:pic>
        <p:nvPicPr>
          <p:cNvPr id="4" name="תמונה 3">
            <a:extLst>
              <a:ext uri="{FF2B5EF4-FFF2-40B4-BE49-F238E27FC236}">
                <a16:creationId xmlns:a16="http://schemas.microsoft.com/office/drawing/2014/main" id="{E9DB9BA3-8FC3-0E3B-D87A-3B15E7ED7F89}"/>
              </a:ext>
            </a:extLst>
          </p:cNvPr>
          <p:cNvPicPr>
            <a:picLocks noChangeAspect="1"/>
          </p:cNvPicPr>
          <p:nvPr/>
        </p:nvPicPr>
        <p:blipFill>
          <a:blip r:embed="rId2"/>
          <a:stretch>
            <a:fillRect/>
          </a:stretch>
        </p:blipFill>
        <p:spPr>
          <a:xfrm>
            <a:off x="4685016" y="1038033"/>
            <a:ext cx="6846189" cy="2019582"/>
          </a:xfrm>
          <a:prstGeom prst="rect">
            <a:avLst/>
          </a:prstGeom>
        </p:spPr>
      </p:pic>
    </p:spTree>
    <p:extLst>
      <p:ext uri="{BB962C8B-B14F-4D97-AF65-F5344CB8AC3E}">
        <p14:creationId xmlns:p14="http://schemas.microsoft.com/office/powerpoint/2010/main" val="218679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CD2E4A85-D382-2A4E-51A1-907500457733}"/>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0D419FE3-9C36-EE20-89C3-98D8E45920B6}"/>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E7557BAF-BD6C-D432-6E3F-DFAD51125D3F}"/>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71046BC5-F001-9F19-537E-CF4AE792012F}"/>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A2DF3DE2-9433-B15C-A14F-11F460596227}"/>
              </a:ext>
            </a:extLst>
          </p:cNvPr>
          <p:cNvSpPr/>
          <p:nvPr/>
        </p:nvSpPr>
        <p:spPr>
          <a:xfrm>
            <a:off x="1389138" y="3177407"/>
            <a:ext cx="10353361" cy="1805238"/>
          </a:xfrm>
          <a:prstGeom prst="rect">
            <a:avLst/>
          </a:prstGeom>
          <a:noFill/>
        </p:spPr>
        <p:txBody>
          <a:bodyPr wrap="square" lIns="91440" tIns="45720" rIns="91440" bIns="45720">
            <a:spAutoFit/>
            <a:scene3d>
              <a:camera prst="obliqueTopRight"/>
              <a:lightRig rig="threePt" dir="t"/>
            </a:scene3d>
          </a:bodyPr>
          <a:lstStyle/>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בחלק א.4 נמלא תקופות העבודה:</a:t>
            </a:r>
          </a:p>
          <a:p>
            <a:pPr marL="627063" indent="-2667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תאריך הפרישה יהיה היום בו הסתיימו יחסי עובד ומעסיק.</a:t>
            </a:r>
          </a:p>
          <a:p>
            <a:pPr marL="627063" indent="-2667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תקופת העבודה תהיה התקופה בימים אשר אינה כוללת ימי חופשה ללא תשלום.</a:t>
            </a:r>
          </a:p>
          <a:p>
            <a:pPr marL="627063" indent="-2667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 חישוב השנים וחלקי השנים יהיה תוצאה של חלוקת הימים ב – 365.</a:t>
            </a:r>
          </a:p>
        </p:txBody>
      </p:sp>
      <p:pic>
        <p:nvPicPr>
          <p:cNvPr id="4" name="תמונה 3">
            <a:extLst>
              <a:ext uri="{FF2B5EF4-FFF2-40B4-BE49-F238E27FC236}">
                <a16:creationId xmlns:a16="http://schemas.microsoft.com/office/drawing/2014/main" id="{42208AE3-6B13-128F-7DD9-7A4072DCC040}"/>
              </a:ext>
            </a:extLst>
          </p:cNvPr>
          <p:cNvPicPr>
            <a:picLocks noChangeAspect="1"/>
          </p:cNvPicPr>
          <p:nvPr/>
        </p:nvPicPr>
        <p:blipFill>
          <a:blip r:embed="rId2"/>
          <a:stretch>
            <a:fillRect/>
          </a:stretch>
        </p:blipFill>
        <p:spPr>
          <a:xfrm>
            <a:off x="4195303" y="1124787"/>
            <a:ext cx="7487695" cy="1952898"/>
          </a:xfrm>
          <a:prstGeom prst="rect">
            <a:avLst/>
          </a:prstGeom>
        </p:spPr>
      </p:pic>
    </p:spTree>
    <p:extLst>
      <p:ext uri="{BB962C8B-B14F-4D97-AF65-F5344CB8AC3E}">
        <p14:creationId xmlns:p14="http://schemas.microsoft.com/office/powerpoint/2010/main" val="4024697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76EC3646-6735-FC6C-5ED3-0F4BBEC1F242}"/>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F9748D11-6430-A687-3805-A2186DC4516F}"/>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622A4F81-F246-2C73-D097-E8765F1DD176}"/>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D50941C6-60CB-2D3F-5E60-FCAA474AB213}"/>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CBBD6599-3DD4-FBFE-D43F-3E7F32BFA079}"/>
              </a:ext>
            </a:extLst>
          </p:cNvPr>
          <p:cNvSpPr/>
          <p:nvPr/>
        </p:nvSpPr>
        <p:spPr>
          <a:xfrm>
            <a:off x="1389138" y="3177407"/>
            <a:ext cx="10353361" cy="2834174"/>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חלק א.5 ימולא רק במידה והיו תקופות עבודה לא רציפות ו/או היו שינויים בשיעורי המשרה ו/או שינויים בשכר העובד. מקרים בהם נדרש לדווח בשל אי רציפות – יציאת העובד לחל"ת, הארכת חופשת לידה. בכל שורה תדווח תקופת העבודה הרציפה.</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תקופת אי העבודה אינה נחשבת לעובד לצורך חישוב הפטור ממס למענק פרישה וכן לתקופת הזכאות לפריסת מענק הפרישה.</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משכורת - הכנסת עבודה למעט תשלומים לכיסוי הוצאות ומעט שווי שימוש רכב.</a:t>
            </a:r>
          </a:p>
        </p:txBody>
      </p:sp>
      <p:pic>
        <p:nvPicPr>
          <p:cNvPr id="4" name="תמונה 3">
            <a:extLst>
              <a:ext uri="{FF2B5EF4-FFF2-40B4-BE49-F238E27FC236}">
                <a16:creationId xmlns:a16="http://schemas.microsoft.com/office/drawing/2014/main" id="{4B197A6F-1389-0E1F-71F6-338D0DCBE2FD}"/>
              </a:ext>
            </a:extLst>
          </p:cNvPr>
          <p:cNvPicPr>
            <a:picLocks noChangeAspect="1"/>
          </p:cNvPicPr>
          <p:nvPr/>
        </p:nvPicPr>
        <p:blipFill>
          <a:blip r:embed="rId2"/>
          <a:stretch>
            <a:fillRect/>
          </a:stretch>
        </p:blipFill>
        <p:spPr>
          <a:xfrm>
            <a:off x="2832372" y="1182857"/>
            <a:ext cx="8828832" cy="1852025"/>
          </a:xfrm>
          <a:prstGeom prst="rect">
            <a:avLst/>
          </a:prstGeom>
        </p:spPr>
      </p:pic>
    </p:spTree>
    <p:extLst>
      <p:ext uri="{BB962C8B-B14F-4D97-AF65-F5344CB8AC3E}">
        <p14:creationId xmlns:p14="http://schemas.microsoft.com/office/powerpoint/2010/main" val="272831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06B6FDCF-8C2A-5E29-209C-3AF1180B133B}"/>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C6340666-814E-A841-7CDA-0FB5478A5284}"/>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E0489EB5-E2B9-A1DB-AF31-B24CAFF148EA}"/>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267CD160-B796-E9BA-6E00-2D1C92815BB1}"/>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1BAC74B4-7C00-CBF9-A833-175D65BD46DA}"/>
              </a:ext>
            </a:extLst>
          </p:cNvPr>
          <p:cNvSpPr/>
          <p:nvPr/>
        </p:nvSpPr>
        <p:spPr>
          <a:xfrm>
            <a:off x="1389138" y="1379130"/>
            <a:ext cx="10353361" cy="2497735"/>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חישוב משכורת אחרונה ביחס לעובד שעבד במשרה מלאה ועבר למשרה חלקית:</a:t>
            </a:r>
          </a:p>
          <a:p>
            <a:pPr marL="342900" indent="-342900" algn="just">
              <a:lnSpc>
                <a:spcPts val="2700"/>
              </a:lnSpc>
              <a:buFontTx/>
              <a:buChar char="-"/>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חישוב המשכורת האחרונה בגין השנים שעבד משרה מלאה יהיה חלוקת המשכורת האחרונה בשיעור המשרה החלקית של העובד. לדוגמה:</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60363"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עובד עבד 20 שנות עבודה מתוכן 15 שנים במשרה מלאה ו – 5 שנים ב – 80% משרה. שכר אחרון מדווח 8,500 ₪. </a:t>
            </a:r>
          </a:p>
        </p:txBody>
      </p:sp>
      <p:graphicFrame>
        <p:nvGraphicFramePr>
          <p:cNvPr id="3" name="טבלה 2">
            <a:extLst>
              <a:ext uri="{FF2B5EF4-FFF2-40B4-BE49-F238E27FC236}">
                <a16:creationId xmlns:a16="http://schemas.microsoft.com/office/drawing/2014/main" id="{1E86B037-8F5F-0CEB-119E-6E900743B052}"/>
              </a:ext>
            </a:extLst>
          </p:cNvPr>
          <p:cNvGraphicFramePr>
            <a:graphicFrameLocks noGrp="1"/>
          </p:cNvGraphicFramePr>
          <p:nvPr>
            <p:extLst>
              <p:ext uri="{D42A27DB-BD31-4B8C-83A1-F6EECF244321}">
                <p14:modId xmlns:p14="http://schemas.microsoft.com/office/powerpoint/2010/main" val="2033277418"/>
              </p:ext>
            </p:extLst>
          </p:nvPr>
        </p:nvGraphicFramePr>
        <p:xfrm>
          <a:off x="3203255" y="4093406"/>
          <a:ext cx="8127999" cy="1112520"/>
        </p:xfrm>
        <a:graphic>
          <a:graphicData uri="http://schemas.openxmlformats.org/drawingml/2006/table">
            <a:tbl>
              <a:tblPr rtl="1" firstRow="1" bandRow="1">
                <a:tableStyleId>{5C22544A-7EE6-4342-B048-85BDC9FD1C3A}</a:tableStyleId>
              </a:tblPr>
              <a:tblGrid>
                <a:gridCol w="2709333">
                  <a:extLst>
                    <a:ext uri="{9D8B030D-6E8A-4147-A177-3AD203B41FA5}">
                      <a16:colId xmlns:a16="http://schemas.microsoft.com/office/drawing/2014/main" val="1965150559"/>
                    </a:ext>
                  </a:extLst>
                </a:gridCol>
                <a:gridCol w="2709333">
                  <a:extLst>
                    <a:ext uri="{9D8B030D-6E8A-4147-A177-3AD203B41FA5}">
                      <a16:colId xmlns:a16="http://schemas.microsoft.com/office/drawing/2014/main" val="2537501596"/>
                    </a:ext>
                  </a:extLst>
                </a:gridCol>
                <a:gridCol w="2709333">
                  <a:extLst>
                    <a:ext uri="{9D8B030D-6E8A-4147-A177-3AD203B41FA5}">
                      <a16:colId xmlns:a16="http://schemas.microsoft.com/office/drawing/2014/main" val="744253960"/>
                    </a:ext>
                  </a:extLst>
                </a:gridCol>
              </a:tblGrid>
              <a:tr h="370840">
                <a:tc>
                  <a:txBody>
                    <a:bodyPr/>
                    <a:lstStyle/>
                    <a:p>
                      <a:pPr algn="ctr" rtl="1"/>
                      <a:r>
                        <a:rPr lang="he-IL" dirty="0"/>
                        <a:t>שנות עבודה רציפות</a:t>
                      </a:r>
                    </a:p>
                  </a:txBody>
                  <a:tcPr/>
                </a:tc>
                <a:tc>
                  <a:txBody>
                    <a:bodyPr/>
                    <a:lstStyle/>
                    <a:p>
                      <a:pPr algn="ctr" rtl="1"/>
                      <a:r>
                        <a:rPr lang="he-IL" dirty="0"/>
                        <a:t>אחוז משרה</a:t>
                      </a:r>
                    </a:p>
                  </a:txBody>
                  <a:tcPr/>
                </a:tc>
                <a:tc>
                  <a:txBody>
                    <a:bodyPr/>
                    <a:lstStyle/>
                    <a:p>
                      <a:pPr algn="ctr" rtl="1"/>
                      <a:r>
                        <a:rPr lang="he-IL" dirty="0"/>
                        <a:t>משכורת אחרונה</a:t>
                      </a:r>
                    </a:p>
                  </a:txBody>
                  <a:tcPr/>
                </a:tc>
                <a:extLst>
                  <a:ext uri="{0D108BD9-81ED-4DB2-BD59-A6C34878D82A}">
                    <a16:rowId xmlns:a16="http://schemas.microsoft.com/office/drawing/2014/main" val="799285870"/>
                  </a:ext>
                </a:extLst>
              </a:tr>
              <a:tr h="370840">
                <a:tc>
                  <a:txBody>
                    <a:bodyPr/>
                    <a:lstStyle/>
                    <a:p>
                      <a:pPr algn="ctr" rtl="1"/>
                      <a:r>
                        <a:rPr lang="he-IL" dirty="0"/>
                        <a:t>15</a:t>
                      </a:r>
                    </a:p>
                  </a:txBody>
                  <a:tcPr/>
                </a:tc>
                <a:tc>
                  <a:txBody>
                    <a:bodyPr/>
                    <a:lstStyle/>
                    <a:p>
                      <a:pPr algn="ctr" rtl="1"/>
                      <a:r>
                        <a:rPr lang="he-IL" dirty="0"/>
                        <a:t>100%</a:t>
                      </a:r>
                    </a:p>
                  </a:txBody>
                  <a:tcPr/>
                </a:tc>
                <a:tc>
                  <a:txBody>
                    <a:bodyPr/>
                    <a:lstStyle/>
                    <a:p>
                      <a:pPr algn="ctr" rtl="1"/>
                      <a:r>
                        <a:rPr lang="he-IL" dirty="0">
                          <a:highlight>
                            <a:srgbClr val="FFFF00"/>
                          </a:highlight>
                        </a:rPr>
                        <a:t>?</a:t>
                      </a:r>
                      <a:r>
                        <a:rPr lang="he-IL" dirty="0"/>
                        <a:t> </a:t>
                      </a:r>
                    </a:p>
                  </a:txBody>
                  <a:tcPr/>
                </a:tc>
                <a:extLst>
                  <a:ext uri="{0D108BD9-81ED-4DB2-BD59-A6C34878D82A}">
                    <a16:rowId xmlns:a16="http://schemas.microsoft.com/office/drawing/2014/main" val="3778154882"/>
                  </a:ext>
                </a:extLst>
              </a:tr>
              <a:tr h="370840">
                <a:tc>
                  <a:txBody>
                    <a:bodyPr/>
                    <a:lstStyle/>
                    <a:p>
                      <a:pPr algn="ctr" rtl="1"/>
                      <a:r>
                        <a:rPr lang="he-IL" dirty="0"/>
                        <a:t>5</a:t>
                      </a:r>
                    </a:p>
                  </a:txBody>
                  <a:tcPr/>
                </a:tc>
                <a:tc>
                  <a:txBody>
                    <a:bodyPr/>
                    <a:lstStyle/>
                    <a:p>
                      <a:pPr algn="ctr" rtl="1"/>
                      <a:r>
                        <a:rPr lang="he-IL" dirty="0"/>
                        <a:t>80%</a:t>
                      </a:r>
                    </a:p>
                  </a:txBody>
                  <a:tcPr/>
                </a:tc>
                <a:tc>
                  <a:txBody>
                    <a:bodyPr/>
                    <a:lstStyle/>
                    <a:p>
                      <a:pPr algn="ctr" rtl="1"/>
                      <a:r>
                        <a:rPr lang="he-IL" dirty="0"/>
                        <a:t>8,500 ₪ </a:t>
                      </a:r>
                    </a:p>
                  </a:txBody>
                  <a:tcPr/>
                </a:tc>
                <a:extLst>
                  <a:ext uri="{0D108BD9-81ED-4DB2-BD59-A6C34878D82A}">
                    <a16:rowId xmlns:a16="http://schemas.microsoft.com/office/drawing/2014/main" val="3223824742"/>
                  </a:ext>
                </a:extLst>
              </a:tr>
            </a:tbl>
          </a:graphicData>
        </a:graphic>
      </p:graphicFrame>
      <p:sp>
        <p:nvSpPr>
          <p:cNvPr id="6" name="תיבת טקסט 5">
            <a:extLst>
              <a:ext uri="{FF2B5EF4-FFF2-40B4-BE49-F238E27FC236}">
                <a16:creationId xmlns:a16="http://schemas.microsoft.com/office/drawing/2014/main" id="{AC09057E-1844-667C-3BD6-4B9A53FED5B3}"/>
              </a:ext>
            </a:extLst>
          </p:cNvPr>
          <p:cNvSpPr txBox="1"/>
          <p:nvPr/>
        </p:nvSpPr>
        <p:spPr>
          <a:xfrm>
            <a:off x="5223268" y="5478870"/>
            <a:ext cx="6107986" cy="369332"/>
          </a:xfrm>
          <a:prstGeom prst="rect">
            <a:avLst/>
          </a:prstGeom>
          <a:noFill/>
        </p:spPr>
        <p:txBody>
          <a:bodyPr wrap="square">
            <a:spAutoFit/>
          </a:bodyPr>
          <a:lstStyle/>
          <a:p>
            <a:r>
              <a:rPr lang="he-IL" dirty="0">
                <a:solidFill>
                  <a:schemeClr val="bg1"/>
                </a:solidFill>
              </a:rPr>
              <a:t>חישוב:  8,500/80% = </a:t>
            </a:r>
            <a:r>
              <a:rPr lang="he-IL" dirty="0">
                <a:solidFill>
                  <a:schemeClr val="bg1"/>
                </a:solidFill>
                <a:highlight>
                  <a:srgbClr val="FFFF00"/>
                </a:highlight>
              </a:rPr>
              <a:t>10,625</a:t>
            </a:r>
            <a:r>
              <a:rPr lang="he-IL" dirty="0">
                <a:solidFill>
                  <a:schemeClr val="bg1"/>
                </a:solidFill>
              </a:rPr>
              <a:t> ₪ </a:t>
            </a:r>
          </a:p>
        </p:txBody>
      </p:sp>
    </p:spTree>
    <p:extLst>
      <p:ext uri="{BB962C8B-B14F-4D97-AF65-F5344CB8AC3E}">
        <p14:creationId xmlns:p14="http://schemas.microsoft.com/office/powerpoint/2010/main" val="4027542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1836A8A5-4BA5-8433-72F8-E0C484D5EEC1}"/>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0B85BEE9-89A4-8BE6-BED5-D0E089CB8497}"/>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B7D4FC65-3CB1-3B4C-2FA5-CCF0AE91E2DD}"/>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6B9A4BA5-A90F-E2B1-76FF-98D8F568948D}"/>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F4357B0E-CD28-E66B-6498-103A86CBE8AD}"/>
              </a:ext>
            </a:extLst>
          </p:cNvPr>
          <p:cNvSpPr/>
          <p:nvPr/>
        </p:nvSpPr>
        <p:spPr>
          <a:xfrm>
            <a:off x="801384" y="2566443"/>
            <a:ext cx="10941115" cy="3911392"/>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משכורת חודשית אחרונה - המשכורת החודשית המלאה לפני הפרישה. זהו השכר שמובא בחשבון בעת חישוב המענק הפטור. לגבי רכיב ההבראה, יש לחלק ב – 12 ולהוסיף למשכורת האחרונה.</a:t>
            </a:r>
          </a:p>
          <a:p>
            <a:pPr marL="342900" indent="-342900" algn="just">
              <a:lnSpc>
                <a:spcPts val="2700"/>
              </a:lnSpc>
              <a:buFontTx/>
              <a:buChar char="-"/>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לגבי מי שאינו עובד בשכר חודשי, המשכורת החודשית האחרונה  תחושב לפי ממוצע המשכורת ב -12 החודשים שקדמו למועד הפרישה (או 12 חודשי העבודה בפועל לפי הנמוך). נדרש לצרף שלושה תלושי משכורת אחרונים.</a:t>
            </a:r>
          </a:p>
          <a:p>
            <a:pPr algn="just">
              <a:lnSpc>
                <a:spcPts val="15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משכורת מבוטחת אחרונה – המשכורת בגינה בוצעו הפרשות לרכיב הפיצויים. משמשת לחישוב התחייבות המעסיק לפיצויים והשלמת חוב ותק. כמו כן תשמש לחישוב סכום "רצף קצבת ברירת מחדל". </a:t>
            </a:r>
          </a:p>
          <a:p>
            <a:pPr algn="just">
              <a:lnSpc>
                <a:spcPts val="15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משכורת חבות פיצויים – משכורת לצורך חישוב "תקרת רצף פיצויים" וכן לבדיקת </a:t>
            </a:r>
          </a:p>
          <a:p>
            <a:pPr marL="360363"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מענק פרישה של בעל שליטה.</a:t>
            </a:r>
          </a:p>
        </p:txBody>
      </p:sp>
      <p:pic>
        <p:nvPicPr>
          <p:cNvPr id="5" name="תמונה 4">
            <a:extLst>
              <a:ext uri="{FF2B5EF4-FFF2-40B4-BE49-F238E27FC236}">
                <a16:creationId xmlns:a16="http://schemas.microsoft.com/office/drawing/2014/main" id="{22291833-A1DD-D78C-59A0-3579D5E3E12B}"/>
              </a:ext>
            </a:extLst>
          </p:cNvPr>
          <p:cNvPicPr>
            <a:picLocks noChangeAspect="1"/>
          </p:cNvPicPr>
          <p:nvPr/>
        </p:nvPicPr>
        <p:blipFill>
          <a:blip r:embed="rId2"/>
          <a:stretch>
            <a:fillRect/>
          </a:stretch>
        </p:blipFill>
        <p:spPr>
          <a:xfrm>
            <a:off x="2079855" y="1045883"/>
            <a:ext cx="9568553" cy="1458198"/>
          </a:xfrm>
          <a:prstGeom prst="rect">
            <a:avLst/>
          </a:prstGeom>
        </p:spPr>
      </p:pic>
    </p:spTree>
    <p:extLst>
      <p:ext uri="{BB962C8B-B14F-4D97-AF65-F5344CB8AC3E}">
        <p14:creationId xmlns:p14="http://schemas.microsoft.com/office/powerpoint/2010/main" val="295265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9792A301-13DC-A4B2-FEED-F6DF5EB6F119}"/>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C1508B96-2D76-CFF9-7A5C-1FCBA41228A7}"/>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47176486-CD91-F9EF-99F0-719CE7C9857E}"/>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54CE68C8-BAB5-A199-32EE-9DC7A18E5779}"/>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9E09147D-7A2E-C508-5360-F10827EB198C}"/>
              </a:ext>
            </a:extLst>
          </p:cNvPr>
          <p:cNvSpPr/>
          <p:nvPr/>
        </p:nvSpPr>
        <p:spPr>
          <a:xfrm>
            <a:off x="1389138" y="3177407"/>
            <a:ext cx="10353361" cy="2834174"/>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בחלק א.7 המעסיק נדרש לדווח האם העובד זכאי לפנסיה תקציבית או לא. במידה והעובד זכאי ימלא המעסיק את מועד הזכאות ואת המשכורת על בסיסה מחושבת הפנסיה התקציבית. משמש את רשות המיסים לבדיקה במקרים שבהם התשלום הוא לבעל שליטה.</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פנסיה תקציבית:</a:t>
            </a:r>
          </a:p>
          <a:p>
            <a:pPr marL="360363"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פנסיה המשולמת מאת המעסיק, מתקציבו של המעסיק. עמית הזכאי לפנסיה תקציבית, חלקי הטופס ביחס למענקי הפיצויים יהיו בדרך כלל ריקים או בסכומים נמוכים. בפנסיה תקציבית אין הפקדות לקופה לקצבה ואין השתתפות של העובד.</a:t>
            </a:r>
          </a:p>
        </p:txBody>
      </p:sp>
      <p:pic>
        <p:nvPicPr>
          <p:cNvPr id="4" name="תמונה 3">
            <a:extLst>
              <a:ext uri="{FF2B5EF4-FFF2-40B4-BE49-F238E27FC236}">
                <a16:creationId xmlns:a16="http://schemas.microsoft.com/office/drawing/2014/main" id="{1C0587B4-1624-D58A-3CB3-61B4666A826E}"/>
              </a:ext>
            </a:extLst>
          </p:cNvPr>
          <p:cNvPicPr>
            <a:picLocks noChangeAspect="1"/>
          </p:cNvPicPr>
          <p:nvPr/>
        </p:nvPicPr>
        <p:blipFill>
          <a:blip r:embed="rId2"/>
          <a:stretch>
            <a:fillRect/>
          </a:stretch>
        </p:blipFill>
        <p:spPr>
          <a:xfrm>
            <a:off x="2294619" y="1196235"/>
            <a:ext cx="9359302" cy="1292345"/>
          </a:xfrm>
          <a:prstGeom prst="rect">
            <a:avLst/>
          </a:prstGeom>
        </p:spPr>
      </p:pic>
    </p:spTree>
    <p:extLst>
      <p:ext uri="{BB962C8B-B14F-4D97-AF65-F5344CB8AC3E}">
        <p14:creationId xmlns:p14="http://schemas.microsoft.com/office/powerpoint/2010/main" val="559379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5C168FD4-E97C-7299-FF97-05419EB2CE14}"/>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6215D644-FB7C-E210-084C-7F793BB6EE06}"/>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783A008F-9BD5-D6A8-D924-0E6595923E37}"/>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C588E7F1-7277-9245-6778-023FF88839C1}"/>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FC6A3787-459A-BB7D-95E2-CC1B664C4ED3}"/>
              </a:ext>
            </a:extLst>
          </p:cNvPr>
          <p:cNvSpPr/>
          <p:nvPr/>
        </p:nvSpPr>
        <p:spPr>
          <a:xfrm>
            <a:off x="1389138" y="3177407"/>
            <a:ext cx="10353361" cy="2834174"/>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לעיתים מעסיק אינו מסוגל לשלם את כל כספי הפיצויים במועדם ומשלם לעובד את כספי הפיצויים בחלקים, במועדים שונים. במקרה שכזה ימלא את חלק א.8 בגין כספים שישולמו בעתיד. סכומים אלה לא ירשמו בסעיף א.9. </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חבות המס של העובד תחושב בגין כל חלק במועד תשלומו כיוון ששיטת המיסוי של שכיר היא על בסיס מזומן.</a:t>
            </a:r>
          </a:p>
          <a:p>
            <a:pPr marL="342900" indent="-342900" algn="just">
              <a:lnSpc>
                <a:spcPts val="2700"/>
              </a:lnSpc>
              <a:buFontTx/>
              <a:buChar char="-"/>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ביחס לחישוב המענק בפטור יבוצע חישוב לפי שיעור הניצול</a:t>
            </a:r>
          </a:p>
        </p:txBody>
      </p:sp>
      <p:pic>
        <p:nvPicPr>
          <p:cNvPr id="5" name="תמונה 4">
            <a:extLst>
              <a:ext uri="{FF2B5EF4-FFF2-40B4-BE49-F238E27FC236}">
                <a16:creationId xmlns:a16="http://schemas.microsoft.com/office/drawing/2014/main" id="{3E7C52E0-7ECF-4BF2-CBBA-403F76D30241}"/>
              </a:ext>
            </a:extLst>
          </p:cNvPr>
          <p:cNvPicPr>
            <a:picLocks noChangeAspect="1"/>
          </p:cNvPicPr>
          <p:nvPr/>
        </p:nvPicPr>
        <p:blipFill>
          <a:blip r:embed="rId2"/>
          <a:stretch>
            <a:fillRect/>
          </a:stretch>
        </p:blipFill>
        <p:spPr>
          <a:xfrm>
            <a:off x="2107599" y="1276778"/>
            <a:ext cx="9634900" cy="1291761"/>
          </a:xfrm>
          <a:prstGeom prst="rect">
            <a:avLst/>
          </a:prstGeom>
        </p:spPr>
      </p:pic>
    </p:spTree>
    <p:extLst>
      <p:ext uri="{BB962C8B-B14F-4D97-AF65-F5344CB8AC3E}">
        <p14:creationId xmlns:p14="http://schemas.microsoft.com/office/powerpoint/2010/main" val="2724121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E812F10E-0A7C-1DEF-5129-20BABD06B6CD}"/>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2136A8F6-C104-A0A7-689A-08060077B5E6}"/>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D34A74EA-30BC-DAE8-737C-79D3E1CD1D73}"/>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5D71F76A-8DC4-A2E5-76EA-7EB1BBE3F763}"/>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69AF8240-05AF-63AA-E8E4-3EA12CD4654E}"/>
              </a:ext>
            </a:extLst>
          </p:cNvPr>
          <p:cNvSpPr/>
          <p:nvPr/>
        </p:nvSpPr>
        <p:spPr>
          <a:xfrm>
            <a:off x="1389138" y="1379130"/>
            <a:ext cx="10353361" cy="6989157"/>
          </a:xfrm>
          <a:prstGeom prst="rect">
            <a:avLst/>
          </a:prstGeom>
          <a:noFill/>
        </p:spPr>
        <p:txBody>
          <a:bodyPr wrap="square" lIns="91440" tIns="45720" rIns="91440" bIns="45720">
            <a:spAutoFit/>
            <a:scene3d>
              <a:camera prst="obliqueTopRight"/>
              <a:lightRig rig="threePt" dir="t"/>
            </a:scene3d>
          </a:bodyPr>
          <a:lstStyle/>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דוגמה לניצול הפטור בחלקים:</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עובד פרש ממקום עבודתו בשנת 2023 לאחר 15 שנות עבודה כאשר משכורתו האחרונה - 25,000 ₪. מענק הפרישה מהמעסיק (פרט לסכומים שנצברו בקופות) 240,000 ₪ בשלושה תשלומים שווים – במועד הפרישה, בשנה העוקבת ובשנה שלאחריה. תקרות הפטור: 2023 – 13,310 2024- 13,750 ו – 2025 – 13,750. העובד מעוניין למשוך את המענק ולנצל את מלוא הפטור.</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r>
              <a:rPr lang="he-IL" sz="2000" u="sng" spc="50" dirty="0">
                <a:ln w="0">
                  <a:noFill/>
                </a:ln>
                <a:solidFill>
                  <a:prstClr val="black">
                    <a:lumMod val="95000"/>
                    <a:lumOff val="5000"/>
                  </a:prstClr>
                </a:solidFill>
                <a:latin typeface="Aptos" panose="02110004020202020204"/>
                <a:cs typeface="Arial" panose="020B0604020202020204" pitchFamily="34" charset="0"/>
              </a:rPr>
              <a:t>2023</a:t>
            </a:r>
            <a:r>
              <a:rPr lang="he-IL" sz="2000" spc="50" dirty="0">
                <a:ln w="0">
                  <a:noFill/>
                </a:ln>
                <a:solidFill>
                  <a:prstClr val="black">
                    <a:lumMod val="95000"/>
                    <a:lumOff val="5000"/>
                  </a:prstClr>
                </a:solidFill>
                <a:latin typeface="Aptos" panose="02110004020202020204"/>
                <a:cs typeface="Arial" panose="020B0604020202020204" pitchFamily="34" charset="0"/>
              </a:rPr>
              <a:t>:</a:t>
            </a:r>
          </a:p>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13,310 </a:t>
            </a:r>
            <a:r>
              <a:rPr lang="en-US" sz="2000" spc="50" dirty="0">
                <a:ln w="0">
                  <a:noFill/>
                </a:ln>
                <a:solidFill>
                  <a:prstClr val="black">
                    <a:lumMod val="95000"/>
                    <a:lumOff val="5000"/>
                  </a:prstClr>
                </a:solidFill>
                <a:latin typeface="Aptos" panose="02110004020202020204"/>
                <a:cs typeface="Arial" panose="020B0604020202020204" pitchFamily="34" charset="0"/>
              </a:rPr>
              <a:t>X</a:t>
            </a:r>
            <a:r>
              <a:rPr lang="he-IL" sz="2000" spc="50" dirty="0">
                <a:ln w="0">
                  <a:noFill/>
                </a:ln>
                <a:solidFill>
                  <a:prstClr val="black">
                    <a:lumMod val="95000"/>
                    <a:lumOff val="5000"/>
                  </a:prstClr>
                </a:solidFill>
                <a:latin typeface="Aptos" panose="02110004020202020204"/>
                <a:cs typeface="Arial" panose="020B0604020202020204" pitchFamily="34" charset="0"/>
              </a:rPr>
              <a:t> 15 = 199,650. שיעור הניצול 80,000/199,650 = 40%. יתרה לניצול 60%.</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r>
              <a:rPr lang="he-IL" sz="2000" u="sng" spc="50" dirty="0">
                <a:ln w="0">
                  <a:noFill/>
                </a:ln>
                <a:solidFill>
                  <a:prstClr val="black">
                    <a:lumMod val="95000"/>
                    <a:lumOff val="5000"/>
                  </a:prstClr>
                </a:solidFill>
                <a:latin typeface="Aptos" panose="02110004020202020204"/>
                <a:cs typeface="Arial" panose="020B0604020202020204" pitchFamily="34" charset="0"/>
              </a:rPr>
              <a:t>2024</a:t>
            </a:r>
            <a:r>
              <a:rPr lang="he-IL" sz="2000" spc="50" dirty="0">
                <a:ln w="0">
                  <a:noFill/>
                </a:ln>
                <a:solidFill>
                  <a:prstClr val="black">
                    <a:lumMod val="95000"/>
                    <a:lumOff val="5000"/>
                  </a:prstClr>
                </a:solidFill>
                <a:latin typeface="Aptos" panose="02110004020202020204"/>
                <a:cs typeface="Arial" panose="020B0604020202020204" pitchFamily="34" charset="0"/>
              </a:rPr>
              <a:t>:</a:t>
            </a:r>
          </a:p>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13,750 </a:t>
            </a:r>
            <a:r>
              <a:rPr lang="en-US" sz="2000" spc="50" dirty="0">
                <a:ln w="0">
                  <a:noFill/>
                </a:ln>
                <a:solidFill>
                  <a:prstClr val="black">
                    <a:lumMod val="95000"/>
                    <a:lumOff val="5000"/>
                  </a:prstClr>
                </a:solidFill>
                <a:latin typeface="Aptos" panose="02110004020202020204"/>
                <a:cs typeface="Arial" panose="020B0604020202020204" pitchFamily="34" charset="0"/>
              </a:rPr>
              <a:t>X</a:t>
            </a:r>
            <a:r>
              <a:rPr lang="he-IL" sz="2000" spc="50" dirty="0">
                <a:ln w="0">
                  <a:noFill/>
                </a:ln>
                <a:solidFill>
                  <a:prstClr val="black">
                    <a:lumMod val="95000"/>
                    <a:lumOff val="5000"/>
                  </a:prstClr>
                </a:solidFill>
                <a:latin typeface="Aptos" panose="02110004020202020204"/>
                <a:cs typeface="Arial" panose="020B0604020202020204" pitchFamily="34" charset="0"/>
              </a:rPr>
              <a:t> 15 </a:t>
            </a:r>
            <a:r>
              <a:rPr lang="en-US" sz="2000" spc="50" dirty="0">
                <a:ln w="0">
                  <a:noFill/>
                </a:ln>
                <a:solidFill>
                  <a:prstClr val="black">
                    <a:lumMod val="95000"/>
                    <a:lumOff val="5000"/>
                  </a:prstClr>
                </a:solidFill>
                <a:latin typeface="Aptos" panose="02110004020202020204"/>
                <a:cs typeface="Arial" panose="020B0604020202020204" pitchFamily="34" charset="0"/>
              </a:rPr>
              <a:t>X</a:t>
            </a:r>
            <a:r>
              <a:rPr lang="he-IL" sz="2000" spc="50" dirty="0">
                <a:ln w="0">
                  <a:noFill/>
                </a:ln>
                <a:solidFill>
                  <a:prstClr val="black">
                    <a:lumMod val="95000"/>
                    <a:lumOff val="5000"/>
                  </a:prstClr>
                </a:solidFill>
                <a:latin typeface="Aptos" panose="02110004020202020204"/>
                <a:cs typeface="Arial" panose="020B0604020202020204" pitchFamily="34" charset="0"/>
              </a:rPr>
              <a:t> 60% = 123,750. 60% </a:t>
            </a:r>
            <a:r>
              <a:rPr lang="en-US" sz="2000" spc="50" dirty="0">
                <a:ln w="0">
                  <a:noFill/>
                </a:ln>
                <a:solidFill>
                  <a:prstClr val="black">
                    <a:lumMod val="95000"/>
                    <a:lumOff val="5000"/>
                  </a:prstClr>
                </a:solidFill>
                <a:latin typeface="Aptos" panose="02110004020202020204"/>
                <a:cs typeface="Arial" panose="020B0604020202020204" pitchFamily="34" charset="0"/>
              </a:rPr>
              <a:t>X</a:t>
            </a:r>
            <a:r>
              <a:rPr lang="he-IL" sz="2000" spc="50" dirty="0">
                <a:ln w="0">
                  <a:noFill/>
                </a:ln>
                <a:solidFill>
                  <a:prstClr val="black">
                    <a:lumMod val="95000"/>
                    <a:lumOff val="5000"/>
                  </a:prstClr>
                </a:solidFill>
                <a:latin typeface="Aptos" panose="02110004020202020204"/>
                <a:cs typeface="Arial" panose="020B0604020202020204" pitchFamily="34" charset="0"/>
              </a:rPr>
              <a:t> 80,000/123,750 = 38.79%. יתרה לניצול 21.21%.</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r>
              <a:rPr lang="he-IL" sz="2000" u="sng" spc="50" dirty="0">
                <a:ln w="0">
                  <a:noFill/>
                </a:ln>
                <a:solidFill>
                  <a:prstClr val="black">
                    <a:lumMod val="95000"/>
                    <a:lumOff val="5000"/>
                  </a:prstClr>
                </a:solidFill>
                <a:latin typeface="Aptos" panose="02110004020202020204"/>
                <a:cs typeface="Arial" panose="020B0604020202020204" pitchFamily="34" charset="0"/>
              </a:rPr>
              <a:t>2025</a:t>
            </a:r>
            <a:r>
              <a:rPr lang="he-IL" sz="2000" spc="50" dirty="0">
                <a:ln w="0">
                  <a:noFill/>
                </a:ln>
                <a:solidFill>
                  <a:prstClr val="black">
                    <a:lumMod val="95000"/>
                    <a:lumOff val="5000"/>
                  </a:prstClr>
                </a:solidFill>
                <a:latin typeface="Aptos" panose="02110004020202020204"/>
                <a:cs typeface="Arial" panose="020B0604020202020204" pitchFamily="34" charset="0"/>
              </a:rPr>
              <a:t>:</a:t>
            </a:r>
          </a:p>
          <a:p>
            <a:pPr algn="just">
              <a:lnSpc>
                <a:spcPts val="2700"/>
              </a:lnSpc>
            </a:pPr>
            <a:r>
              <a:rPr lang="he-IL" sz="2000" spc="50" dirty="0">
                <a:ln w="0">
                  <a:noFill/>
                </a:ln>
                <a:solidFill>
                  <a:prstClr val="black">
                    <a:lumMod val="95000"/>
                    <a:lumOff val="5000"/>
                  </a:prstClr>
                </a:solidFill>
                <a:latin typeface="Aptos" panose="02110004020202020204"/>
                <a:cs typeface="Arial" panose="020B0604020202020204" pitchFamily="34" charset="0"/>
              </a:rPr>
              <a:t>13,750 </a:t>
            </a:r>
            <a:r>
              <a:rPr lang="en-US" sz="2000" spc="50" dirty="0">
                <a:ln w="0">
                  <a:noFill/>
                </a:ln>
                <a:solidFill>
                  <a:prstClr val="black">
                    <a:lumMod val="95000"/>
                    <a:lumOff val="5000"/>
                  </a:prstClr>
                </a:solidFill>
                <a:latin typeface="Aptos" panose="02110004020202020204"/>
                <a:cs typeface="Arial" panose="020B0604020202020204" pitchFamily="34" charset="0"/>
              </a:rPr>
              <a:t>X</a:t>
            </a:r>
            <a:r>
              <a:rPr lang="he-IL" sz="2000" spc="50" dirty="0">
                <a:ln w="0">
                  <a:noFill/>
                </a:ln>
                <a:solidFill>
                  <a:prstClr val="black">
                    <a:lumMod val="95000"/>
                    <a:lumOff val="5000"/>
                  </a:prstClr>
                </a:solidFill>
                <a:latin typeface="Aptos" panose="02110004020202020204"/>
                <a:cs typeface="Arial" panose="020B0604020202020204" pitchFamily="34" charset="0"/>
              </a:rPr>
              <a:t> 15 </a:t>
            </a:r>
            <a:r>
              <a:rPr lang="en-US" sz="2000" spc="50" dirty="0">
                <a:ln w="0">
                  <a:noFill/>
                </a:ln>
                <a:solidFill>
                  <a:prstClr val="black">
                    <a:lumMod val="95000"/>
                    <a:lumOff val="5000"/>
                  </a:prstClr>
                </a:solidFill>
                <a:latin typeface="Aptos" panose="02110004020202020204"/>
                <a:cs typeface="Arial" panose="020B0604020202020204" pitchFamily="34" charset="0"/>
              </a:rPr>
              <a:t>X</a:t>
            </a:r>
            <a:r>
              <a:rPr lang="he-IL" sz="2000" spc="50" dirty="0">
                <a:ln w="0">
                  <a:noFill/>
                </a:ln>
                <a:solidFill>
                  <a:prstClr val="black">
                    <a:lumMod val="95000"/>
                    <a:lumOff val="5000"/>
                  </a:prstClr>
                </a:solidFill>
                <a:latin typeface="Aptos" panose="02110004020202020204"/>
                <a:cs typeface="Arial" panose="020B0604020202020204" pitchFamily="34" charset="0"/>
              </a:rPr>
              <a:t> 21.21% = 43,745. יתרה לניצול 0%.</a:t>
            </a: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algn="just">
              <a:lnSpc>
                <a:spcPts val="27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endParaRPr lang="he-IL" sz="2000" spc="50" dirty="0">
              <a:ln w="0">
                <a:noFill/>
              </a:ln>
              <a:solidFill>
                <a:prstClr val="black">
                  <a:lumMod val="95000"/>
                  <a:lumOff val="5000"/>
                </a:prstClr>
              </a:solidFill>
              <a:latin typeface="Aptos" panose="02110004020202020204"/>
              <a:cs typeface="Arial" panose="020B0604020202020204" pitchFamily="34" charset="0"/>
            </a:endParaRPr>
          </a:p>
        </p:txBody>
      </p:sp>
    </p:spTree>
    <p:extLst>
      <p:ext uri="{BB962C8B-B14F-4D97-AF65-F5344CB8AC3E}">
        <p14:creationId xmlns:p14="http://schemas.microsoft.com/office/powerpoint/2010/main" val="2564218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47108FAD-A43F-C064-16DC-05D6338437F7}"/>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58097CA1-4214-5D4B-E3AA-D33F8874E456}"/>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92BDE9C6-7569-3CFE-72A0-842CF15C508C}"/>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312F4999-7652-92A4-0E69-7D37404C78BA}"/>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7B7BD9B1-C61F-7BF8-91FF-34EEEFB69254}"/>
              </a:ext>
            </a:extLst>
          </p:cNvPr>
          <p:cNvSpPr/>
          <p:nvPr/>
        </p:nvSpPr>
        <p:spPr>
          <a:xfrm>
            <a:off x="1389138" y="3327452"/>
            <a:ext cx="10353361" cy="2487925"/>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בחלק א.9 יפורטו כל המענקים המשולמים על ידי המעסיק כמענק פרישה בין אם בתשלום מקופת המעסיק, מקופות הגמל  ו/או בהפקדת השלמת פיצויים לקופות הגמל של העובד.</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חלק זה </a:t>
            </a:r>
            <a:r>
              <a:rPr lang="he-IL" sz="2000" b="1" u="sng" spc="50" dirty="0">
                <a:ln w="0">
                  <a:noFill/>
                </a:ln>
                <a:solidFill>
                  <a:prstClr val="black">
                    <a:lumMod val="95000"/>
                    <a:lumOff val="5000"/>
                  </a:prstClr>
                </a:solidFill>
                <a:latin typeface="Aptos" panose="02110004020202020204"/>
                <a:cs typeface="Arial" panose="020B0604020202020204" pitchFamily="34" charset="0"/>
              </a:rPr>
              <a:t>אינו כולל</a:t>
            </a:r>
            <a:r>
              <a:rPr lang="he-IL" sz="2000" b="1" spc="50" dirty="0">
                <a:ln w="0">
                  <a:noFill/>
                </a:ln>
                <a:solidFill>
                  <a:prstClr val="black">
                    <a:lumMod val="95000"/>
                    <a:lumOff val="5000"/>
                  </a:prstClr>
                </a:solidFill>
                <a:latin typeface="Aptos" panose="02110004020202020204"/>
                <a:cs typeface="Arial" panose="020B0604020202020204" pitchFamily="34" charset="0"/>
              </a:rPr>
              <a:t> </a:t>
            </a:r>
            <a:r>
              <a:rPr lang="he-IL" sz="2000" spc="50" dirty="0">
                <a:ln w="0">
                  <a:noFill/>
                </a:ln>
                <a:solidFill>
                  <a:prstClr val="black">
                    <a:lumMod val="95000"/>
                    <a:lumOff val="5000"/>
                  </a:prstClr>
                </a:solidFill>
                <a:latin typeface="Aptos" panose="02110004020202020204"/>
                <a:cs typeface="Arial" panose="020B0604020202020204" pitchFamily="34" charset="0"/>
              </a:rPr>
              <a:t>:</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סכומים בגינם </a:t>
            </a:r>
            <a:r>
              <a:rPr lang="he-IL" sz="2000" b="1" spc="50" dirty="0">
                <a:ln w="0">
                  <a:noFill/>
                </a:ln>
                <a:solidFill>
                  <a:prstClr val="black">
                    <a:lumMod val="95000"/>
                    <a:lumOff val="5000"/>
                  </a:prstClr>
                </a:solidFill>
                <a:latin typeface="Aptos" panose="02110004020202020204"/>
                <a:cs typeface="Arial" panose="020B0604020202020204" pitchFamily="34" charset="0"/>
              </a:rPr>
              <a:t>חויב העובד במס</a:t>
            </a:r>
            <a:r>
              <a:rPr lang="he-IL" sz="2000" spc="50" dirty="0">
                <a:ln w="0">
                  <a:noFill/>
                </a:ln>
                <a:solidFill>
                  <a:prstClr val="black">
                    <a:lumMod val="95000"/>
                    <a:lumOff val="5000"/>
                  </a:prstClr>
                </a:solidFill>
                <a:latin typeface="Aptos" panose="02110004020202020204"/>
                <a:cs typeface="Arial" panose="020B0604020202020204" pitchFamily="34" charset="0"/>
              </a:rPr>
              <a:t> (תקרת שכר 45,600 ₪ לשנת 2026) בעת תשלומם לקופות או תשלומם לעובד מקופת המעסיק.</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תשלומים עתידיים שדווחו בסעיף א8.</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כספים שיועדו לקצבה  שידווחו בסעיף א11.</a:t>
            </a:r>
          </a:p>
        </p:txBody>
      </p:sp>
      <p:pic>
        <p:nvPicPr>
          <p:cNvPr id="4" name="תמונה 3">
            <a:extLst>
              <a:ext uri="{FF2B5EF4-FFF2-40B4-BE49-F238E27FC236}">
                <a16:creationId xmlns:a16="http://schemas.microsoft.com/office/drawing/2014/main" id="{F62EEA1F-0ABD-BB17-E1C4-3EFAA66B423C}"/>
              </a:ext>
            </a:extLst>
          </p:cNvPr>
          <p:cNvPicPr>
            <a:picLocks noChangeAspect="1"/>
          </p:cNvPicPr>
          <p:nvPr/>
        </p:nvPicPr>
        <p:blipFill>
          <a:blip r:embed="rId2"/>
          <a:stretch>
            <a:fillRect/>
          </a:stretch>
        </p:blipFill>
        <p:spPr>
          <a:xfrm>
            <a:off x="2558265" y="1172419"/>
            <a:ext cx="9044285" cy="2004988"/>
          </a:xfrm>
          <a:prstGeom prst="rect">
            <a:avLst/>
          </a:prstGeom>
        </p:spPr>
      </p:pic>
    </p:spTree>
    <p:extLst>
      <p:ext uri="{BB962C8B-B14F-4D97-AF65-F5344CB8AC3E}">
        <p14:creationId xmlns:p14="http://schemas.microsoft.com/office/powerpoint/2010/main" val="4040413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E85483B7-D2D4-67EB-55AC-22A155D1A6BF}"/>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9A3C6303-6625-2DF7-8474-7CFC29A82518}"/>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C1C6B112-1A1C-3B18-8149-1E42A52FE91B}"/>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BF257BAA-8BF4-90B1-A4E5-24512D1B2B01}"/>
              </a:ext>
            </a:extLst>
          </p:cNvPr>
          <p:cNvSpPr/>
          <p:nvPr/>
        </p:nvSpPr>
        <p:spPr>
          <a:xfrm>
            <a:off x="6684704" y="416493"/>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54AB6ABD-15D8-FF9C-F07A-0001F7766CCC}"/>
              </a:ext>
            </a:extLst>
          </p:cNvPr>
          <p:cNvSpPr/>
          <p:nvPr/>
        </p:nvSpPr>
        <p:spPr>
          <a:xfrm>
            <a:off x="1271866" y="2604086"/>
            <a:ext cx="10353361" cy="1654364"/>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שם המשלם – מי שמשלם את הכספים:</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שם המעסיק במידה ומשולמים כספים מקופת המעסיק.</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 שם החברה המנהלת של קופת הגמל ממנה משולמים הכספים לעובד או שישולמו בעתיד.</a:t>
            </a:r>
          </a:p>
          <a:p>
            <a:pPr lvl="1" algn="just">
              <a:lnSpc>
                <a:spcPts val="16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קוד המשלם:</a:t>
            </a:r>
          </a:p>
        </p:txBody>
      </p:sp>
      <p:pic>
        <p:nvPicPr>
          <p:cNvPr id="4" name="תמונה 3">
            <a:extLst>
              <a:ext uri="{FF2B5EF4-FFF2-40B4-BE49-F238E27FC236}">
                <a16:creationId xmlns:a16="http://schemas.microsoft.com/office/drawing/2014/main" id="{36AB672E-A47A-BC8E-1A5D-1F36B7285BBD}"/>
              </a:ext>
            </a:extLst>
          </p:cNvPr>
          <p:cNvPicPr>
            <a:picLocks noChangeAspect="1"/>
          </p:cNvPicPr>
          <p:nvPr/>
        </p:nvPicPr>
        <p:blipFill>
          <a:blip r:embed="rId2"/>
          <a:stretch>
            <a:fillRect/>
          </a:stretch>
        </p:blipFill>
        <p:spPr>
          <a:xfrm>
            <a:off x="2558265" y="940838"/>
            <a:ext cx="9044285" cy="1663248"/>
          </a:xfrm>
          <a:prstGeom prst="rect">
            <a:avLst/>
          </a:prstGeom>
        </p:spPr>
      </p:pic>
      <p:sp>
        <p:nvSpPr>
          <p:cNvPr id="12" name="תיבת טקסט 11">
            <a:extLst>
              <a:ext uri="{FF2B5EF4-FFF2-40B4-BE49-F238E27FC236}">
                <a16:creationId xmlns:a16="http://schemas.microsoft.com/office/drawing/2014/main" id="{66FA5A0F-C855-D800-B9C6-9BA094C01DE0}"/>
              </a:ext>
            </a:extLst>
          </p:cNvPr>
          <p:cNvSpPr txBox="1"/>
          <p:nvPr/>
        </p:nvSpPr>
        <p:spPr>
          <a:xfrm>
            <a:off x="106632" y="4268459"/>
            <a:ext cx="11495918" cy="1995483"/>
          </a:xfrm>
          <a:prstGeom prst="rect">
            <a:avLst/>
          </a:prstGeom>
          <a:noFill/>
        </p:spPr>
        <p:txBody>
          <a:bodyPr wrap="square">
            <a:spAutoFit/>
          </a:bodyPr>
          <a:lstStyle/>
          <a:p>
            <a:pPr>
              <a:lnSpc>
                <a:spcPct val="150000"/>
              </a:lnSpc>
            </a:pPr>
            <a:r>
              <a:rPr lang="he-IL" sz="1400" dirty="0">
                <a:solidFill>
                  <a:schemeClr val="bg1"/>
                </a:solidFill>
              </a:rPr>
              <a:t>"1" המעסיק: תשלומים המשולמים ישירות מקופת המעסיק (כגון: השלמת פיצויים במזומן, פדיון ימי מחלה, מענק הסתגלות).</a:t>
            </a:r>
          </a:p>
          <a:p>
            <a:pPr>
              <a:lnSpc>
                <a:spcPct val="150000"/>
              </a:lnSpc>
            </a:pPr>
            <a:r>
              <a:rPr lang="he-IL" sz="1400" dirty="0">
                <a:solidFill>
                  <a:schemeClr val="bg1"/>
                </a:solidFill>
              </a:rPr>
              <a:t>"2" מינהלת הגמלאות של עובדי המדינה: רלוונטי לעובדי מדינה במסלול פנסיה תקציבית.</a:t>
            </a:r>
          </a:p>
          <a:p>
            <a:pPr>
              <a:lnSpc>
                <a:spcPct val="150000"/>
              </a:lnSpc>
            </a:pPr>
            <a:r>
              <a:rPr lang="he-IL" sz="1400" dirty="0">
                <a:solidFill>
                  <a:schemeClr val="bg1"/>
                </a:solidFill>
              </a:rPr>
              <a:t>"3" קופה מרכזית לפיצויים: כולל תשלומים מהמוסד לביטוח לאומי המשולמים כמענק בעקבות פירוק חברה או פשיטת רגל של המעסיק.</a:t>
            </a:r>
          </a:p>
          <a:p>
            <a:pPr>
              <a:lnSpc>
                <a:spcPct val="150000"/>
              </a:lnSpc>
            </a:pPr>
            <a:r>
              <a:rPr lang="he-IL" sz="1400" dirty="0">
                <a:solidFill>
                  <a:schemeClr val="bg1"/>
                </a:solidFill>
              </a:rPr>
              <a:t>"4" קופת גמל לפיצויים או לתגמולים: כספים שהופקדו על ידי המעסיק ברכיב הפיצויים או התגמולים לטובת העובד עד שנת  2008 (פיצויים הוניים).</a:t>
            </a:r>
          </a:p>
          <a:p>
            <a:pPr>
              <a:lnSpc>
                <a:spcPct val="150000"/>
              </a:lnSpc>
            </a:pPr>
            <a:r>
              <a:rPr lang="he-IL" sz="1400" dirty="0">
                <a:solidFill>
                  <a:schemeClr val="bg1"/>
                </a:solidFill>
              </a:rPr>
              <a:t>"5" קופת פנסיה ותיקה: תשלומים המבוצעים מקופות פנסיה שהיו קיימות לפני הרפורמה (כגון מבטחים ותיקה, קג"מ וכו').</a:t>
            </a:r>
          </a:p>
          <a:p>
            <a:pPr>
              <a:lnSpc>
                <a:spcPct val="150000"/>
              </a:lnSpc>
            </a:pPr>
            <a:r>
              <a:rPr lang="he-IL" sz="1400" dirty="0">
                <a:solidFill>
                  <a:schemeClr val="bg1"/>
                </a:solidFill>
              </a:rPr>
              <a:t>"6" קופת גמל לקצבה: הפקדות שבוצעו לקופות גמל המיועדות לתשלום קצבה (פיצויים קצבתיים).</a:t>
            </a:r>
          </a:p>
        </p:txBody>
      </p:sp>
    </p:spTree>
    <p:extLst>
      <p:ext uri="{BB962C8B-B14F-4D97-AF65-F5344CB8AC3E}">
        <p14:creationId xmlns:p14="http://schemas.microsoft.com/office/powerpoint/2010/main" val="1588310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74BE48C7-CA25-ED61-B5B1-F5F9F8CAE07D}"/>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64295024-CF7E-5881-417C-2A843D5DA8C5}"/>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C24A0A59-58A6-CFDF-0CC9-AAB9DAD4CEEC}"/>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72C7360D-FCC8-86C0-033F-08C964129491}"/>
              </a:ext>
            </a:extLst>
          </p:cNvPr>
          <p:cNvSpPr/>
          <p:nvPr/>
        </p:nvSpPr>
        <p:spPr>
          <a:xfrm>
            <a:off x="6684704" y="416493"/>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8" name="מלבן 7">
            <a:extLst>
              <a:ext uri="{FF2B5EF4-FFF2-40B4-BE49-F238E27FC236}">
                <a16:creationId xmlns:a16="http://schemas.microsoft.com/office/drawing/2014/main" id="{4BDEED47-956B-11E0-1AF9-132819DE56AD}"/>
              </a:ext>
            </a:extLst>
          </p:cNvPr>
          <p:cNvSpPr/>
          <p:nvPr/>
        </p:nvSpPr>
        <p:spPr>
          <a:xfrm>
            <a:off x="1389138" y="1208424"/>
            <a:ext cx="10353361" cy="3731855"/>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קוד 4 כולל:</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מענק מקופת המעסיק המשולם לעובד כגון: השלמת פיצויים במזומן, פדיון ימי מחלה, פיצוי בגין אי הודעה מוקדמת.</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מענק שנים עודפות מקרן פנסיה ותיקה.</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פיצויים המשולמים מקופה מרכזית לפיצויים.</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פיצויים מקופת גמל לתגמולים ופיצויים – קופות עד שנת 2007.</a:t>
            </a:r>
          </a:p>
          <a:p>
            <a:pPr marL="800100" lvl="1" indent="-34290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מענק הוני המתקבל מקרן פנסיה וותיקה.</a:t>
            </a:r>
          </a:p>
          <a:p>
            <a:pPr lvl="1" algn="just">
              <a:lnSpc>
                <a:spcPts val="1600"/>
              </a:lnSpc>
            </a:pPr>
            <a:endParaRPr lang="he-IL" sz="2000" spc="50" dirty="0">
              <a:ln w="0">
                <a:noFill/>
              </a:ln>
              <a:solidFill>
                <a:prstClr val="black">
                  <a:lumMod val="95000"/>
                  <a:lumOff val="5000"/>
                </a:prstClr>
              </a:solidFill>
              <a:latin typeface="Aptos" panose="02110004020202020204"/>
              <a:cs typeface="Arial" panose="020B0604020202020204" pitchFamily="34" charset="0"/>
            </a:endParaRP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קוד 6 כולל:</a:t>
            </a:r>
          </a:p>
          <a:p>
            <a:pPr marL="801688" indent="-34925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פיצויים קיצבתיים בקרן פנסיה ותיקה.</a:t>
            </a:r>
          </a:p>
          <a:p>
            <a:pPr marL="801688" indent="-349250" algn="just">
              <a:lnSpc>
                <a:spcPts val="2700"/>
              </a:lnSpc>
              <a:buFont typeface="Arial" panose="020B0604020202020204" pitchFamily="34" charset="0"/>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פיצויים מקופות לקצבה כגון קרן פנסיה, ביטוח מנהלים, קופת גמל לחסכון.</a:t>
            </a:r>
          </a:p>
        </p:txBody>
      </p:sp>
    </p:spTree>
    <p:extLst>
      <p:ext uri="{BB962C8B-B14F-4D97-AF65-F5344CB8AC3E}">
        <p14:creationId xmlns:p14="http://schemas.microsoft.com/office/powerpoint/2010/main" val="2012617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03F7E957-1B1D-0F0B-5295-45CB0BF30B83}"/>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18481C94-7A54-5245-1F76-3295CC350E2B}"/>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C46D4FC2-1FA7-30BD-45D2-334ED8255FFE}"/>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47F036C7-34CB-5C72-716A-09AE5C171D07}"/>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pic>
        <p:nvPicPr>
          <p:cNvPr id="12" name="תמונה 11">
            <a:extLst>
              <a:ext uri="{FF2B5EF4-FFF2-40B4-BE49-F238E27FC236}">
                <a16:creationId xmlns:a16="http://schemas.microsoft.com/office/drawing/2014/main" id="{AFB73FAF-FD86-196B-B169-4D19AA9C421A}"/>
              </a:ext>
            </a:extLst>
          </p:cNvPr>
          <p:cNvPicPr>
            <a:picLocks noChangeAspect="1"/>
          </p:cNvPicPr>
          <p:nvPr/>
        </p:nvPicPr>
        <p:blipFill>
          <a:blip r:embed="rId2"/>
          <a:stretch>
            <a:fillRect/>
          </a:stretch>
        </p:blipFill>
        <p:spPr>
          <a:xfrm>
            <a:off x="2698214" y="1113259"/>
            <a:ext cx="9044285" cy="2004988"/>
          </a:xfrm>
          <a:prstGeom prst="rect">
            <a:avLst/>
          </a:prstGeom>
        </p:spPr>
      </p:pic>
      <p:sp>
        <p:nvSpPr>
          <p:cNvPr id="13" name="מלבן 12">
            <a:extLst>
              <a:ext uri="{FF2B5EF4-FFF2-40B4-BE49-F238E27FC236}">
                <a16:creationId xmlns:a16="http://schemas.microsoft.com/office/drawing/2014/main" id="{ACE2D63A-8E61-9C32-6AEA-69FBD0CDC1DD}"/>
              </a:ext>
            </a:extLst>
          </p:cNvPr>
          <p:cNvSpPr/>
          <p:nvPr/>
        </p:nvSpPr>
        <p:spPr>
          <a:xfrm>
            <a:off x="1271866" y="3206440"/>
            <a:ext cx="10353361" cy="1102931"/>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תאריך הפקדה ראשון– יום העבודה הראשון בגינו שולמו הכספים למשלם.</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תאריך הפקדה אחרון - יום העבודה האחרון בגינו שולמו הכספים למשלם.</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סוג תשלום:</a:t>
            </a:r>
          </a:p>
        </p:txBody>
      </p:sp>
      <p:sp>
        <p:nvSpPr>
          <p:cNvPr id="14" name="תיבת טקסט 13">
            <a:extLst>
              <a:ext uri="{FF2B5EF4-FFF2-40B4-BE49-F238E27FC236}">
                <a16:creationId xmlns:a16="http://schemas.microsoft.com/office/drawing/2014/main" id="{7CF3FB2D-78FD-6EF8-F6B7-4C2666C1C39A}"/>
              </a:ext>
            </a:extLst>
          </p:cNvPr>
          <p:cNvSpPr txBox="1"/>
          <p:nvPr/>
        </p:nvSpPr>
        <p:spPr>
          <a:xfrm>
            <a:off x="-201593" y="4237292"/>
            <a:ext cx="11495918" cy="1671291"/>
          </a:xfrm>
          <a:prstGeom prst="rect">
            <a:avLst/>
          </a:prstGeom>
          <a:noFill/>
        </p:spPr>
        <p:txBody>
          <a:bodyPr wrap="square">
            <a:spAutoFit/>
          </a:bodyPr>
          <a:lstStyle/>
          <a:p>
            <a:pPr>
              <a:lnSpc>
                <a:spcPct val="150000"/>
              </a:lnSpc>
            </a:pPr>
            <a:r>
              <a:rPr lang="he-IL" sz="1400" dirty="0">
                <a:solidFill>
                  <a:schemeClr val="bg1"/>
                </a:solidFill>
              </a:rPr>
              <a:t>"20" מענק פרישה - כל תשלום אגב הפרישה לרבות פדיון ימי מחלה, מענק הסתגלות, מענק שנים עודפות ופיצוי בגין אי הודעה מוקדמת וכן,</a:t>
            </a:r>
          </a:p>
          <a:p>
            <a:pPr>
              <a:lnSpc>
                <a:spcPct val="150000"/>
              </a:lnSpc>
            </a:pPr>
            <a:r>
              <a:rPr lang="he-IL" sz="1400" dirty="0">
                <a:solidFill>
                  <a:schemeClr val="bg1"/>
                </a:solidFill>
              </a:rPr>
              <a:t>השלמת חבות פיצויים בהתאם לסעיף 3(ה3)(1ב) לפקודה. יודגש, תשלומים בגין פדיון ימי חופשה ואי תחרות, אינם באים בגדר מענק פרישה.</a:t>
            </a:r>
          </a:p>
          <a:p>
            <a:pPr>
              <a:lnSpc>
                <a:spcPct val="150000"/>
              </a:lnSpc>
            </a:pPr>
            <a:r>
              <a:rPr lang="he-IL" sz="1400" dirty="0">
                <a:solidFill>
                  <a:schemeClr val="bg1"/>
                </a:solidFill>
              </a:rPr>
              <a:t>"22" מענק כוחות הביטחון - לפי סעיף 15 לחוק שירות הקבע בצה"ל או לפי סעיף 22 או לפי סעיף 63ב לחוק שירות המדינה (גימלאות).</a:t>
            </a:r>
          </a:p>
          <a:p>
            <a:pPr>
              <a:lnSpc>
                <a:spcPct val="150000"/>
              </a:lnSpc>
            </a:pPr>
            <a:r>
              <a:rPr lang="he-IL" sz="1400" dirty="0">
                <a:solidFill>
                  <a:schemeClr val="bg1"/>
                </a:solidFill>
              </a:rPr>
              <a:t>"23" מענק פרישה עקב פטירה.</a:t>
            </a:r>
          </a:p>
          <a:p>
            <a:pPr>
              <a:lnSpc>
                <a:spcPct val="150000"/>
              </a:lnSpc>
            </a:pPr>
            <a:r>
              <a:rPr lang="he-IL" sz="1400" dirty="0">
                <a:solidFill>
                  <a:schemeClr val="bg1"/>
                </a:solidFill>
              </a:rPr>
              <a:t>"30" קצבה טרם הפרישה – </a:t>
            </a:r>
            <a:r>
              <a:rPr lang="he-IL" sz="1400" dirty="0">
                <a:solidFill>
                  <a:srgbClr val="FF0000"/>
                </a:solidFill>
              </a:rPr>
              <a:t>לא רלבנטי לפי א.9, ירשם בסעיף א.11 אם נדרש.</a:t>
            </a:r>
            <a:endParaRPr lang="he-IL" sz="1400" dirty="0">
              <a:solidFill>
                <a:schemeClr val="bg1"/>
              </a:solidFill>
            </a:endParaRPr>
          </a:p>
        </p:txBody>
      </p:sp>
    </p:spTree>
    <p:extLst>
      <p:ext uri="{BB962C8B-B14F-4D97-AF65-F5344CB8AC3E}">
        <p14:creationId xmlns:p14="http://schemas.microsoft.com/office/powerpoint/2010/main" val="481282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82ED29E6-C351-9DF2-CA30-26E044EEFB53}"/>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4EF87E91-B282-5985-765F-324EB5B762C3}"/>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B6CF0271-8043-6A29-E64B-4306BC9CF7D2}"/>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A7547807-DA3C-A861-41F8-9D89E9441E98}"/>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pic>
        <p:nvPicPr>
          <p:cNvPr id="12" name="תמונה 11">
            <a:extLst>
              <a:ext uri="{FF2B5EF4-FFF2-40B4-BE49-F238E27FC236}">
                <a16:creationId xmlns:a16="http://schemas.microsoft.com/office/drawing/2014/main" id="{F53F0DDB-81D9-7C1F-2180-5DF45A12A39C}"/>
              </a:ext>
            </a:extLst>
          </p:cNvPr>
          <p:cNvPicPr>
            <a:picLocks noChangeAspect="1"/>
          </p:cNvPicPr>
          <p:nvPr/>
        </p:nvPicPr>
        <p:blipFill>
          <a:blip r:embed="rId2"/>
          <a:stretch>
            <a:fillRect/>
          </a:stretch>
        </p:blipFill>
        <p:spPr>
          <a:xfrm>
            <a:off x="2698214" y="1113259"/>
            <a:ext cx="9044285" cy="2004988"/>
          </a:xfrm>
          <a:prstGeom prst="rect">
            <a:avLst/>
          </a:prstGeom>
        </p:spPr>
      </p:pic>
      <p:sp>
        <p:nvSpPr>
          <p:cNvPr id="13" name="מלבן 12">
            <a:extLst>
              <a:ext uri="{FF2B5EF4-FFF2-40B4-BE49-F238E27FC236}">
                <a16:creationId xmlns:a16="http://schemas.microsoft.com/office/drawing/2014/main" id="{3BA77613-1B6B-B695-C58C-9D39EC29AE55}"/>
              </a:ext>
            </a:extLst>
          </p:cNvPr>
          <p:cNvSpPr/>
          <p:nvPr/>
        </p:nvSpPr>
        <p:spPr>
          <a:xfrm>
            <a:off x="1271866" y="3206440"/>
            <a:ext cx="10353361" cy="2141677"/>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הסכום ליום הפרישה – הסכום המשולם ליום הפרישה. במידה ומדובר בקופת גמל/קרן פנסיה/ביטוח מנהלים  בדרך כלל משתמשים בטופס עזר מהקופה בו מצוין סכום הפיצויים העומד לסכום העובד.</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צבירה נוספת – במידה והסכום שצוין על ידי הקופה אינו כולל סכומים נוספים כדוגמת הפקדה אחרונה שבוצעה לאחר קבלת טופס העזר או מועד נכונות טופס העזר.</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בסוף חלק א.9 נדרש למלא את סכום כלל הסכומים שפורטו בחלק זה.</a:t>
            </a:r>
          </a:p>
        </p:txBody>
      </p:sp>
      <p:pic>
        <p:nvPicPr>
          <p:cNvPr id="8" name="תמונה 7">
            <a:extLst>
              <a:ext uri="{FF2B5EF4-FFF2-40B4-BE49-F238E27FC236}">
                <a16:creationId xmlns:a16="http://schemas.microsoft.com/office/drawing/2014/main" id="{0FDBD501-0EDD-6F49-D3DB-346D61607C20}"/>
              </a:ext>
            </a:extLst>
          </p:cNvPr>
          <p:cNvPicPr>
            <a:picLocks noChangeAspect="1"/>
          </p:cNvPicPr>
          <p:nvPr/>
        </p:nvPicPr>
        <p:blipFill>
          <a:blip r:embed="rId3"/>
          <a:stretch>
            <a:fillRect/>
          </a:stretch>
        </p:blipFill>
        <p:spPr>
          <a:xfrm>
            <a:off x="2698214" y="5423116"/>
            <a:ext cx="8927013" cy="494800"/>
          </a:xfrm>
          <a:prstGeom prst="rect">
            <a:avLst/>
          </a:prstGeom>
        </p:spPr>
      </p:pic>
    </p:spTree>
    <p:extLst>
      <p:ext uri="{BB962C8B-B14F-4D97-AF65-F5344CB8AC3E}">
        <p14:creationId xmlns:p14="http://schemas.microsoft.com/office/powerpoint/2010/main" val="1212448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E900F29C-E26E-F04F-6572-55ACD0C93192}"/>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D6049B05-5FED-370B-7439-E48B3B1FE58A}"/>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3D3530BE-E9AA-6CE1-7AEE-C6705D8760B6}"/>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71359A1E-1B94-30E1-50AC-BCE95597CF1A}"/>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13" name="מלבן 12">
            <a:extLst>
              <a:ext uri="{FF2B5EF4-FFF2-40B4-BE49-F238E27FC236}">
                <a16:creationId xmlns:a16="http://schemas.microsoft.com/office/drawing/2014/main" id="{0CEF9BFF-93F5-D127-AAC5-2C53C55BAD6B}"/>
              </a:ext>
            </a:extLst>
          </p:cNvPr>
          <p:cNvSpPr/>
          <p:nvPr/>
        </p:nvSpPr>
        <p:spPr>
          <a:xfrm>
            <a:off x="1271866" y="3206440"/>
            <a:ext cx="10353361" cy="2843984"/>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חלק א.10 מכיל סכומים שנצברו בגין הפקדות פטורות. אלה הפקדות מעסיק בגינן חויב העובד במס בעת הפקדתן. הפקדות בגין שכר מעל תקרת השכר הפטור להפקדה מחויבות במס במועד ההפקדה. התקרה לשנת 2026 – 45,600 ₪. על המעסיק לנכות מס לעובד בהתאם לשיעור המס של העובד ביחס לסכום שמעל התקרה.</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במידה והמעסיק לא חייב במס עליו לציין זאת בטופס. נדרש למלא אחד מתיבות הסימון.</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בכל שורה נמלא את שם המשלם ותיק הניכויים שלו.</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תשלומים שחויבו במס – התשלום הנומינלי בגינו חויב המס.</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תשלומים לרבות הרווחים – שווי הכספים למועד הפרישה. </a:t>
            </a:r>
          </a:p>
        </p:txBody>
      </p:sp>
      <p:pic>
        <p:nvPicPr>
          <p:cNvPr id="4" name="תמונה 3">
            <a:extLst>
              <a:ext uri="{FF2B5EF4-FFF2-40B4-BE49-F238E27FC236}">
                <a16:creationId xmlns:a16="http://schemas.microsoft.com/office/drawing/2014/main" id="{A4071046-9125-55D1-5E99-72565082F57B}"/>
              </a:ext>
            </a:extLst>
          </p:cNvPr>
          <p:cNvPicPr>
            <a:picLocks noChangeAspect="1"/>
          </p:cNvPicPr>
          <p:nvPr/>
        </p:nvPicPr>
        <p:blipFill>
          <a:blip r:embed="rId2"/>
          <a:stretch>
            <a:fillRect/>
          </a:stretch>
        </p:blipFill>
        <p:spPr>
          <a:xfrm>
            <a:off x="2137025" y="1098362"/>
            <a:ext cx="9488202" cy="1963337"/>
          </a:xfrm>
          <a:prstGeom prst="rect">
            <a:avLst/>
          </a:prstGeom>
        </p:spPr>
      </p:pic>
    </p:spTree>
    <p:extLst>
      <p:ext uri="{BB962C8B-B14F-4D97-AF65-F5344CB8AC3E}">
        <p14:creationId xmlns:p14="http://schemas.microsoft.com/office/powerpoint/2010/main" val="2739728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CD9A6A69-4B3A-42CD-BF7E-589DBE7A5B9E}"/>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FD07CD0F-D687-4E68-335C-9C11B1ABC8E5}"/>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7E72ECF5-3BFC-DA34-4EF1-717BBFC745F9}"/>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1CF0A8FA-CA98-CFAF-9A69-ABDF96407724}"/>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13" name="מלבן 12">
            <a:extLst>
              <a:ext uri="{FF2B5EF4-FFF2-40B4-BE49-F238E27FC236}">
                <a16:creationId xmlns:a16="http://schemas.microsoft.com/office/drawing/2014/main" id="{98D253DC-3716-B707-B34B-C116187E9EBD}"/>
              </a:ext>
            </a:extLst>
          </p:cNvPr>
          <p:cNvSpPr/>
          <p:nvPr/>
        </p:nvSpPr>
        <p:spPr>
          <a:xfrm>
            <a:off x="1271866" y="2794571"/>
            <a:ext cx="10353361" cy="2487925"/>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שם המשלם – החברה המנהלת של קופת הגמל המשלמת.</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מספר תיק ניכויים – מספר התיק של החברה המנהלת. </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חודש המרה לקצבה – החודש שבו בוצעה ההמרה לקצבה וחושב סכום הקצבה.</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סכום הקצבה – הסכום שחושב כקצבה.</a:t>
            </a:r>
          </a:p>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הסכום הכולל – סכום הפיצויים ממנו נגזרת הקצבה החודשית במועד החישוב.</a:t>
            </a:r>
          </a:p>
          <a:p>
            <a:pPr algn="just">
              <a:lnSpc>
                <a:spcPts val="2700"/>
              </a:lnSpc>
            </a:pPr>
            <a:endParaRPr lang="he-IL" sz="2000" spc="50" dirty="0">
              <a:ln w="0">
                <a:noFill/>
              </a:ln>
              <a:solidFill>
                <a:srgbClr val="FF0000"/>
              </a:solidFill>
              <a:latin typeface="Aptos" panose="02110004020202020204"/>
              <a:cs typeface="Arial" panose="020B0604020202020204" pitchFamily="34" charset="0"/>
            </a:endParaRPr>
          </a:p>
          <a:p>
            <a:pPr algn="just">
              <a:lnSpc>
                <a:spcPts val="2700"/>
              </a:lnSpc>
            </a:pPr>
            <a:r>
              <a:rPr lang="he-IL" sz="2000" spc="50" dirty="0">
                <a:ln w="0">
                  <a:noFill/>
                </a:ln>
                <a:solidFill>
                  <a:srgbClr val="FF0000"/>
                </a:solidFill>
                <a:latin typeface="Aptos" panose="02110004020202020204"/>
                <a:cs typeface="Arial" panose="020B0604020202020204" pitchFamily="34" charset="0"/>
              </a:rPr>
              <a:t>נתונים אלה יש לדרוש מקופת הגמל</a:t>
            </a:r>
          </a:p>
        </p:txBody>
      </p:sp>
      <p:pic>
        <p:nvPicPr>
          <p:cNvPr id="5" name="תמונה 4">
            <a:extLst>
              <a:ext uri="{FF2B5EF4-FFF2-40B4-BE49-F238E27FC236}">
                <a16:creationId xmlns:a16="http://schemas.microsoft.com/office/drawing/2014/main" id="{4955BB54-3D4B-DC7F-4B2B-6D033882AD36}"/>
              </a:ext>
            </a:extLst>
          </p:cNvPr>
          <p:cNvPicPr>
            <a:picLocks noChangeAspect="1"/>
          </p:cNvPicPr>
          <p:nvPr/>
        </p:nvPicPr>
        <p:blipFill>
          <a:blip r:embed="rId2"/>
          <a:stretch>
            <a:fillRect/>
          </a:stretch>
        </p:blipFill>
        <p:spPr>
          <a:xfrm>
            <a:off x="2260315" y="1092876"/>
            <a:ext cx="9364912" cy="1701695"/>
          </a:xfrm>
          <a:prstGeom prst="rect">
            <a:avLst/>
          </a:prstGeom>
        </p:spPr>
      </p:pic>
      <p:pic>
        <p:nvPicPr>
          <p:cNvPr id="6" name="תמונה 5">
            <a:extLst>
              <a:ext uri="{FF2B5EF4-FFF2-40B4-BE49-F238E27FC236}">
                <a16:creationId xmlns:a16="http://schemas.microsoft.com/office/drawing/2014/main" id="{050B60A3-D2D6-6EA7-8616-41A0D659C0AA}"/>
              </a:ext>
            </a:extLst>
          </p:cNvPr>
          <p:cNvPicPr>
            <a:picLocks noChangeAspect="1"/>
          </p:cNvPicPr>
          <p:nvPr/>
        </p:nvPicPr>
        <p:blipFill>
          <a:blip r:embed="rId3"/>
          <a:stretch>
            <a:fillRect/>
          </a:stretch>
        </p:blipFill>
        <p:spPr>
          <a:xfrm>
            <a:off x="5070169" y="5540857"/>
            <a:ext cx="6411220" cy="371527"/>
          </a:xfrm>
          <a:prstGeom prst="rect">
            <a:avLst/>
          </a:prstGeom>
        </p:spPr>
      </p:pic>
      <p:sp>
        <p:nvSpPr>
          <p:cNvPr id="7" name="מלבן 6">
            <a:extLst>
              <a:ext uri="{FF2B5EF4-FFF2-40B4-BE49-F238E27FC236}">
                <a16:creationId xmlns:a16="http://schemas.microsoft.com/office/drawing/2014/main" id="{12694F3D-065F-86EC-3094-7D10878F0D07}"/>
              </a:ext>
            </a:extLst>
          </p:cNvPr>
          <p:cNvSpPr/>
          <p:nvPr/>
        </p:nvSpPr>
        <p:spPr>
          <a:xfrm>
            <a:off x="3184274" y="5980220"/>
            <a:ext cx="8512009" cy="410433"/>
          </a:xfrm>
          <a:prstGeom prst="rect">
            <a:avLst/>
          </a:prstGeom>
          <a:noFill/>
        </p:spPr>
        <p:txBody>
          <a:bodyPr wrap="square" lIns="91440" tIns="45720" rIns="91440" bIns="45720">
            <a:spAutoFit/>
            <a:scene3d>
              <a:camera prst="obliqueTopRight"/>
              <a:lightRig rig="threePt" dir="t"/>
            </a:scene3d>
          </a:bodyPr>
          <a:lstStyle/>
          <a:p>
            <a:pPr marL="342900" indent="-342900" algn="just">
              <a:lnSpc>
                <a:spcPts val="2700"/>
              </a:lnSpc>
              <a:buFontTx/>
              <a:buChar char="-"/>
            </a:pPr>
            <a:r>
              <a:rPr lang="he-IL" sz="2000" spc="50" dirty="0">
                <a:ln w="0">
                  <a:noFill/>
                </a:ln>
                <a:solidFill>
                  <a:prstClr val="black">
                    <a:lumMod val="95000"/>
                    <a:lumOff val="5000"/>
                  </a:prstClr>
                </a:solidFill>
                <a:latin typeface="Aptos" panose="02110004020202020204"/>
                <a:cs typeface="Arial" panose="020B0604020202020204" pitchFamily="34" charset="0"/>
              </a:rPr>
              <a:t>בסעיף זה נמלא את סך הצבירה בגין הסכומים שבחלקים א.9 עד א.11</a:t>
            </a:r>
          </a:p>
        </p:txBody>
      </p:sp>
    </p:spTree>
    <p:extLst>
      <p:ext uri="{BB962C8B-B14F-4D97-AF65-F5344CB8AC3E}">
        <p14:creationId xmlns:p14="http://schemas.microsoft.com/office/powerpoint/2010/main" val="2821263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8CF2D828-F788-8038-CAB5-A422D118E002}"/>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1C3CD451-29D0-9BED-15D9-4396FA4DFBCB}"/>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23642AD3-49E0-0E21-4A82-368C2B4CD85B}"/>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D2C0EA8A-E3D5-C454-9612-ECF437DFEC31}"/>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9" name="תיבת טקסט 8">
            <a:extLst>
              <a:ext uri="{FF2B5EF4-FFF2-40B4-BE49-F238E27FC236}">
                <a16:creationId xmlns:a16="http://schemas.microsoft.com/office/drawing/2014/main" id="{6E8DB443-0804-842D-5C61-2B855B1FC6EF}"/>
              </a:ext>
            </a:extLst>
          </p:cNvPr>
          <p:cNvSpPr txBox="1"/>
          <p:nvPr/>
        </p:nvSpPr>
        <p:spPr>
          <a:xfrm>
            <a:off x="1839075" y="3429000"/>
            <a:ext cx="9792056" cy="2308324"/>
          </a:xfrm>
          <a:prstGeom prst="rect">
            <a:avLst/>
          </a:prstGeom>
          <a:noFill/>
        </p:spPr>
        <p:txBody>
          <a:bodyPr wrap="square">
            <a:spAutoFit/>
          </a:bodyPr>
          <a:lstStyle/>
          <a:p>
            <a:r>
              <a:rPr lang="he-IL" dirty="0">
                <a:solidFill>
                  <a:schemeClr val="bg1"/>
                </a:solidFill>
              </a:rPr>
              <a:t>סעיף א.12:</a:t>
            </a:r>
          </a:p>
          <a:p>
            <a:pPr marL="285750" indent="-285750">
              <a:buFontTx/>
              <a:buChar char="-"/>
            </a:pPr>
            <a:r>
              <a:rPr lang="he-IL" dirty="0">
                <a:solidFill>
                  <a:schemeClr val="bg1"/>
                </a:solidFill>
              </a:rPr>
              <a:t>בסעיף 1 נדרש לדווח אם הסכום עולה על סכום "רצף קצבה לברירת מחדל". לצורך החישוב נבדוק מהו הסכום הגבוה מבין תקרה של  405,900 ₪  או 45,600 ₪  כפול שנות הותק בעבודה כולל חלקי שנות עבודה (נכון לשנת 2026). במידה וסכום המענקים מסוג קצבה עולה על הסכום שחושב נסמן כן.</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בסעיף 2 נדרש לדווח האם בכלל הכספים המשולמים ישנם </a:t>
            </a:r>
            <a:r>
              <a:rPr lang="he-IL">
                <a:solidFill>
                  <a:schemeClr val="bg1"/>
                </a:solidFill>
              </a:rPr>
              <a:t>כספים שאינם כספי </a:t>
            </a:r>
            <a:r>
              <a:rPr lang="he-IL" dirty="0">
                <a:solidFill>
                  <a:schemeClr val="bg1"/>
                </a:solidFill>
              </a:rPr>
              <a:t>קצבה. במידה ויש תשלומים מפיצויים בקוד 4 (פיצויים הוניים) או מהמעסיק או מקופה מרכזית לפיצויים נסמן כן בסעיף 2.</a:t>
            </a:r>
          </a:p>
          <a:p>
            <a:pPr marL="285750" indent="-285750">
              <a:buFontTx/>
              <a:buChar char="-"/>
            </a:pPr>
            <a:endParaRPr lang="he-IL" dirty="0">
              <a:solidFill>
                <a:schemeClr val="bg1"/>
              </a:solidFill>
            </a:endParaRPr>
          </a:p>
        </p:txBody>
      </p:sp>
      <p:pic>
        <p:nvPicPr>
          <p:cNvPr id="12" name="תמונה 11">
            <a:extLst>
              <a:ext uri="{FF2B5EF4-FFF2-40B4-BE49-F238E27FC236}">
                <a16:creationId xmlns:a16="http://schemas.microsoft.com/office/drawing/2014/main" id="{833BA4A6-F771-4CA5-1E24-8EC3EB55F080}"/>
              </a:ext>
            </a:extLst>
          </p:cNvPr>
          <p:cNvPicPr>
            <a:picLocks noChangeAspect="1"/>
          </p:cNvPicPr>
          <p:nvPr/>
        </p:nvPicPr>
        <p:blipFill>
          <a:blip r:embed="rId2"/>
          <a:stretch>
            <a:fillRect/>
          </a:stretch>
        </p:blipFill>
        <p:spPr>
          <a:xfrm>
            <a:off x="1840577" y="1208125"/>
            <a:ext cx="9790554" cy="1586536"/>
          </a:xfrm>
          <a:prstGeom prst="rect">
            <a:avLst/>
          </a:prstGeom>
        </p:spPr>
      </p:pic>
    </p:spTree>
    <p:extLst>
      <p:ext uri="{BB962C8B-B14F-4D97-AF65-F5344CB8AC3E}">
        <p14:creationId xmlns:p14="http://schemas.microsoft.com/office/powerpoint/2010/main" val="162289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BD23BFC9-5256-394F-31E1-9DCE5AF99C4E}"/>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0B140617-2784-62C1-F7A6-7B59A5932596}"/>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31C62631-A9EF-4486-E36C-C5CBD125CA91}"/>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3333F6A3-1C0A-37C7-D8AD-9B4924433C6D}"/>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9" name="תיבת טקסט 8">
            <a:extLst>
              <a:ext uri="{FF2B5EF4-FFF2-40B4-BE49-F238E27FC236}">
                <a16:creationId xmlns:a16="http://schemas.microsoft.com/office/drawing/2014/main" id="{355AB687-ADFD-ED90-7B56-B3895F18E580}"/>
              </a:ext>
            </a:extLst>
          </p:cNvPr>
          <p:cNvSpPr txBox="1"/>
          <p:nvPr/>
        </p:nvSpPr>
        <p:spPr>
          <a:xfrm>
            <a:off x="1950443" y="3242071"/>
            <a:ext cx="9792056" cy="2862322"/>
          </a:xfrm>
          <a:prstGeom prst="rect">
            <a:avLst/>
          </a:prstGeom>
          <a:noFill/>
        </p:spPr>
        <p:txBody>
          <a:bodyPr wrap="square">
            <a:spAutoFit/>
          </a:bodyPr>
          <a:lstStyle/>
          <a:p>
            <a:pPr marL="285750" indent="-285750">
              <a:buFontTx/>
              <a:buChar char="-"/>
            </a:pPr>
            <a:r>
              <a:rPr lang="he-IL" dirty="0">
                <a:solidFill>
                  <a:schemeClr val="bg1"/>
                </a:solidFill>
              </a:rPr>
              <a:t>זוהי טבלה חדשה המפרטת את סך הסכומים העומדים לרשות העובד ואת האפשרויות שהוא יכול לקבל בגינם בחלק ב' בטופס 161 החדש.</a:t>
            </a:r>
          </a:p>
          <a:p>
            <a:endParaRPr lang="he-IL" dirty="0">
              <a:solidFill>
                <a:schemeClr val="bg1"/>
              </a:solidFill>
            </a:endParaRPr>
          </a:p>
          <a:p>
            <a:pPr marL="285750" indent="-285750">
              <a:buFontTx/>
              <a:buChar char="-"/>
            </a:pPr>
            <a:r>
              <a:rPr lang="he-IL" dirty="0">
                <a:solidFill>
                  <a:schemeClr val="bg1"/>
                </a:solidFill>
              </a:rPr>
              <a:t>סכום המענק הכולל – הסכום שחושב לאחר סעיף א.11.</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סכום לרצף קצבה – הסכום המירבי אותו ניתן לייעד לרצף קצבה, סכום זה יהיה הגבוה מבין המשכורת המבוטחת כפול הוותק או הפקדות שוטפות שנעשו בהתאם למשכורת המבוטחת (יש לכלול בסכום לרצף קצבה גם כספי פיצויים  שנכללו בסעיף א.10 וגם את הסכום שהומר כבר לקצבה בסעיף א.11).</a:t>
            </a:r>
          </a:p>
          <a:p>
            <a:pPr marL="285750" indent="-285750">
              <a:buFontTx/>
              <a:buChar char="-"/>
            </a:pPr>
            <a:endParaRPr lang="he-IL" dirty="0">
              <a:solidFill>
                <a:schemeClr val="bg1"/>
              </a:solidFill>
            </a:endParaRPr>
          </a:p>
          <a:p>
            <a:endParaRPr lang="he-IL" dirty="0">
              <a:solidFill>
                <a:schemeClr val="bg1"/>
              </a:solidFill>
            </a:endParaRPr>
          </a:p>
        </p:txBody>
      </p:sp>
      <p:pic>
        <p:nvPicPr>
          <p:cNvPr id="4" name="תמונה 3">
            <a:extLst>
              <a:ext uri="{FF2B5EF4-FFF2-40B4-BE49-F238E27FC236}">
                <a16:creationId xmlns:a16="http://schemas.microsoft.com/office/drawing/2014/main" id="{CFF4EAEF-489D-9ADC-3259-6C75298E2267}"/>
              </a:ext>
            </a:extLst>
          </p:cNvPr>
          <p:cNvPicPr>
            <a:picLocks noChangeAspect="1"/>
          </p:cNvPicPr>
          <p:nvPr/>
        </p:nvPicPr>
        <p:blipFill>
          <a:blip r:embed="rId2"/>
          <a:stretch>
            <a:fillRect/>
          </a:stretch>
        </p:blipFill>
        <p:spPr>
          <a:xfrm>
            <a:off x="2661008" y="1100569"/>
            <a:ext cx="8970124" cy="1786469"/>
          </a:xfrm>
          <a:prstGeom prst="rect">
            <a:avLst/>
          </a:prstGeom>
        </p:spPr>
      </p:pic>
    </p:spTree>
    <p:extLst>
      <p:ext uri="{BB962C8B-B14F-4D97-AF65-F5344CB8AC3E}">
        <p14:creationId xmlns:p14="http://schemas.microsoft.com/office/powerpoint/2010/main" val="1725543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866680B8-1FAF-DD85-9611-347F1493B969}"/>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20F8EEE8-4717-240D-4C8D-35AC99C159CF}"/>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E701FE18-2651-FEB4-DFA4-14F6E3837997}"/>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4EB8BC83-EB6F-136B-E2E0-9BCEC2B2964B}"/>
              </a:ext>
            </a:extLst>
          </p:cNvPr>
          <p:cNvSpPr/>
          <p:nvPr/>
        </p:nvSpPr>
        <p:spPr>
          <a:xfrm>
            <a:off x="6684704" y="501846"/>
            <a:ext cx="5057795"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א – הודעת המעסיק (המשך)</a:t>
            </a:r>
          </a:p>
        </p:txBody>
      </p:sp>
      <p:sp>
        <p:nvSpPr>
          <p:cNvPr id="9" name="תיבת טקסט 8">
            <a:extLst>
              <a:ext uri="{FF2B5EF4-FFF2-40B4-BE49-F238E27FC236}">
                <a16:creationId xmlns:a16="http://schemas.microsoft.com/office/drawing/2014/main" id="{F2292749-58F5-B921-3507-27FF7908DEC8}"/>
              </a:ext>
            </a:extLst>
          </p:cNvPr>
          <p:cNvSpPr txBox="1"/>
          <p:nvPr/>
        </p:nvSpPr>
        <p:spPr>
          <a:xfrm>
            <a:off x="1950443" y="3001736"/>
            <a:ext cx="9792056" cy="2308324"/>
          </a:xfrm>
          <a:prstGeom prst="rect">
            <a:avLst/>
          </a:prstGeom>
          <a:noFill/>
        </p:spPr>
        <p:txBody>
          <a:bodyPr wrap="square">
            <a:spAutoFit/>
          </a:bodyPr>
          <a:lstStyle/>
          <a:p>
            <a:pPr marL="285750" indent="-285750">
              <a:buFontTx/>
              <a:buChar char="-"/>
            </a:pPr>
            <a:r>
              <a:rPr lang="he-IL" dirty="0">
                <a:solidFill>
                  <a:schemeClr val="bg1"/>
                </a:solidFill>
              </a:rPr>
              <a:t>סכום לרצף פיצויים - הסכום אותו ניתן לייעד לרצף פיצויים אשר לא יעלה על:  חבות הפיצויים בהתאם</a:t>
            </a:r>
          </a:p>
          <a:p>
            <a:pPr indent="266700"/>
            <a:r>
              <a:rPr lang="he-IL" dirty="0">
                <a:solidFill>
                  <a:schemeClr val="bg1"/>
                </a:solidFill>
              </a:rPr>
              <a:t>לחוק פיצויי פיטורים, בתוספת מכפלת 4 פעמים השכר הממוצע במשק בשנות הוותק של העובד הפורש.</a:t>
            </a:r>
          </a:p>
          <a:p>
            <a:pPr marL="360363" indent="-93663"/>
            <a:r>
              <a:rPr lang="he-IL" dirty="0">
                <a:solidFill>
                  <a:schemeClr val="bg1"/>
                </a:solidFill>
              </a:rPr>
              <a:t>מהתוצאה המתקבלת יש לנכות את הסכום שיועד לרצף קצבה.</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סכום המענק הפטור – הסכום אותו זכאי העובד למשוך בפטור ממס בהתאם לסיבת הפרישה.</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סכום המענק החייב במס- סך המענקים לפי סעיף 9.א, לא כולל מענקים שחויבו במס כפי המפורטים בסעיף א.10 אשר חויבו במס ובניכוי סכומים אשר העובד בחרת למשוך אותם בפטור ממס. </a:t>
            </a:r>
          </a:p>
        </p:txBody>
      </p:sp>
      <p:pic>
        <p:nvPicPr>
          <p:cNvPr id="4" name="תמונה 3">
            <a:extLst>
              <a:ext uri="{FF2B5EF4-FFF2-40B4-BE49-F238E27FC236}">
                <a16:creationId xmlns:a16="http://schemas.microsoft.com/office/drawing/2014/main" id="{7490A3F3-B057-13DE-138E-0E128AFE99FE}"/>
              </a:ext>
            </a:extLst>
          </p:cNvPr>
          <p:cNvPicPr>
            <a:picLocks noChangeAspect="1"/>
          </p:cNvPicPr>
          <p:nvPr/>
        </p:nvPicPr>
        <p:blipFill>
          <a:blip r:embed="rId2"/>
          <a:stretch>
            <a:fillRect/>
          </a:stretch>
        </p:blipFill>
        <p:spPr>
          <a:xfrm>
            <a:off x="2912950" y="1100569"/>
            <a:ext cx="8718181" cy="1601534"/>
          </a:xfrm>
          <a:prstGeom prst="rect">
            <a:avLst/>
          </a:prstGeom>
        </p:spPr>
      </p:pic>
    </p:spTree>
    <p:extLst>
      <p:ext uri="{BB962C8B-B14F-4D97-AF65-F5344CB8AC3E}">
        <p14:creationId xmlns:p14="http://schemas.microsoft.com/office/powerpoint/2010/main" val="1381901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68EEFDD8-56E0-A049-F7D2-1E4AE93BE93F}"/>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1AF0D49A-0E33-A2DF-0EA5-FEAA0E2630E0}"/>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59C9FE8A-368D-3927-7FFE-96A58428462F}"/>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C3BF3937-94F9-B0EB-21CE-DD572D0A7BA8}"/>
              </a:ext>
            </a:extLst>
          </p:cNvPr>
          <p:cNvSpPr/>
          <p:nvPr/>
        </p:nvSpPr>
        <p:spPr>
          <a:xfrm>
            <a:off x="8006970" y="539585"/>
            <a:ext cx="3526928"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ב – הודעת העובד</a:t>
            </a:r>
          </a:p>
        </p:txBody>
      </p:sp>
      <p:sp>
        <p:nvSpPr>
          <p:cNvPr id="9" name="תיבת טקסט 8">
            <a:extLst>
              <a:ext uri="{FF2B5EF4-FFF2-40B4-BE49-F238E27FC236}">
                <a16:creationId xmlns:a16="http://schemas.microsoft.com/office/drawing/2014/main" id="{0D444DA4-5F16-690D-A016-6B1D8C868AE8}"/>
              </a:ext>
            </a:extLst>
          </p:cNvPr>
          <p:cNvSpPr txBox="1"/>
          <p:nvPr/>
        </p:nvSpPr>
        <p:spPr>
          <a:xfrm>
            <a:off x="1950443" y="4040869"/>
            <a:ext cx="9792056" cy="1477328"/>
          </a:xfrm>
          <a:prstGeom prst="rect">
            <a:avLst/>
          </a:prstGeom>
          <a:noFill/>
        </p:spPr>
        <p:txBody>
          <a:bodyPr wrap="square">
            <a:spAutoFit/>
          </a:bodyPr>
          <a:lstStyle/>
          <a:p>
            <a:pPr marL="285750" indent="-285750">
              <a:buFontTx/>
              <a:buChar char="-"/>
            </a:pPr>
            <a:r>
              <a:rPr lang="he-IL" dirty="0">
                <a:solidFill>
                  <a:schemeClr val="bg1"/>
                </a:solidFill>
              </a:rPr>
              <a:t>חלק ב מהווה את בחירת העובד. העובד יכול שלא למלא את החלק הזה אם סכומי הקצבה הצבורים אינם עולים על הסכום שחושב כתקרה בחלק א.12 סעיף 1 וכן שכלל התשלומים הם רק מקופת גמל לקצבה. במקרה שכזה יראו כאילו בחר העובד ברצף קצבה אוטומטי.</a:t>
            </a:r>
          </a:p>
          <a:p>
            <a:endParaRPr lang="he-IL" dirty="0">
              <a:solidFill>
                <a:schemeClr val="bg1"/>
              </a:solidFill>
            </a:endParaRPr>
          </a:p>
          <a:p>
            <a:pPr marL="285750" indent="-285750">
              <a:buFontTx/>
              <a:buChar char="-"/>
            </a:pPr>
            <a:endParaRPr lang="he-IL" dirty="0">
              <a:solidFill>
                <a:schemeClr val="bg1"/>
              </a:solidFill>
            </a:endParaRPr>
          </a:p>
        </p:txBody>
      </p:sp>
      <p:pic>
        <p:nvPicPr>
          <p:cNvPr id="7" name="תמונה 6">
            <a:extLst>
              <a:ext uri="{FF2B5EF4-FFF2-40B4-BE49-F238E27FC236}">
                <a16:creationId xmlns:a16="http://schemas.microsoft.com/office/drawing/2014/main" id="{390ED8C4-9061-638A-8315-1128FC3F8FC4}"/>
              </a:ext>
            </a:extLst>
          </p:cNvPr>
          <p:cNvPicPr>
            <a:picLocks noChangeAspect="1"/>
          </p:cNvPicPr>
          <p:nvPr/>
        </p:nvPicPr>
        <p:blipFill>
          <a:blip r:embed="rId2"/>
          <a:stretch>
            <a:fillRect/>
          </a:stretch>
        </p:blipFill>
        <p:spPr>
          <a:xfrm>
            <a:off x="1500027" y="1177889"/>
            <a:ext cx="10033871" cy="2563511"/>
          </a:xfrm>
          <a:prstGeom prst="rect">
            <a:avLst/>
          </a:prstGeom>
        </p:spPr>
      </p:pic>
    </p:spTree>
    <p:extLst>
      <p:ext uri="{BB962C8B-B14F-4D97-AF65-F5344CB8AC3E}">
        <p14:creationId xmlns:p14="http://schemas.microsoft.com/office/powerpoint/2010/main" val="2807467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2919BD1C-D0A8-3592-2F19-C3C974CF271A}"/>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090E81AE-09CF-C475-C636-FD3EE5AD9690}"/>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393FF4BC-8E1B-4C64-B6D9-04C2F5593F95}"/>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7904CC5C-5ACD-4D25-3C3D-EF958F4CA5A4}"/>
              </a:ext>
            </a:extLst>
          </p:cNvPr>
          <p:cNvSpPr/>
          <p:nvPr/>
        </p:nvSpPr>
        <p:spPr>
          <a:xfrm>
            <a:off x="6939582" y="468308"/>
            <a:ext cx="4802917"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ב – הודעת העובד (המשך)</a:t>
            </a:r>
          </a:p>
        </p:txBody>
      </p:sp>
      <p:sp>
        <p:nvSpPr>
          <p:cNvPr id="9" name="תיבת טקסט 8">
            <a:extLst>
              <a:ext uri="{FF2B5EF4-FFF2-40B4-BE49-F238E27FC236}">
                <a16:creationId xmlns:a16="http://schemas.microsoft.com/office/drawing/2014/main" id="{F1BC72A5-8613-8438-CAEF-0E6D45A3A043}"/>
              </a:ext>
            </a:extLst>
          </p:cNvPr>
          <p:cNvSpPr txBox="1"/>
          <p:nvPr/>
        </p:nvSpPr>
        <p:spPr>
          <a:xfrm>
            <a:off x="2043554" y="3955618"/>
            <a:ext cx="9792056" cy="2585323"/>
          </a:xfrm>
          <a:prstGeom prst="rect">
            <a:avLst/>
          </a:prstGeom>
          <a:noFill/>
        </p:spPr>
        <p:txBody>
          <a:bodyPr wrap="square">
            <a:spAutoFit/>
          </a:bodyPr>
          <a:lstStyle/>
          <a:p>
            <a:pPr marL="285750" indent="-285750">
              <a:buFontTx/>
              <a:buChar char="-"/>
            </a:pPr>
            <a:r>
              <a:rPr lang="he-IL" dirty="0">
                <a:solidFill>
                  <a:schemeClr val="bg1"/>
                </a:solidFill>
              </a:rPr>
              <a:t>בחלק זה מתייחס העובד לסכומים שפורט בסעיף א.9 ומבצע את בחירתו ביחס לכל חלק. זוהי טבלה חדשה המפרטת את סך הסכומים העומדים לרשות העובד ואת האפשרויות שהוא יכול לקבל בגינם. בדרך כלל ימולא בעזרת בעל רישיון פנסיוני.</a:t>
            </a:r>
          </a:p>
          <a:p>
            <a:endParaRPr lang="he-IL" dirty="0">
              <a:solidFill>
                <a:schemeClr val="bg1"/>
              </a:solidFill>
            </a:endParaRPr>
          </a:p>
          <a:p>
            <a:pPr marL="285750" indent="-285750">
              <a:buFontTx/>
              <a:buChar char="-"/>
            </a:pPr>
            <a:r>
              <a:rPr lang="he-IL" dirty="0">
                <a:solidFill>
                  <a:schemeClr val="bg1"/>
                </a:solidFill>
              </a:rPr>
              <a:t>העובד רשאי למלא את הסכומים לפי הצרכים שלו אולם הם חייבים לעמוד בכללים:</a:t>
            </a:r>
          </a:p>
          <a:p>
            <a:pPr marL="742950" lvl="1" indent="-285750">
              <a:buFont typeface="Arial" panose="020B0604020202020204" pitchFamily="34" charset="0"/>
              <a:buChar char="•"/>
            </a:pPr>
            <a:r>
              <a:rPr lang="he-IL" dirty="0">
                <a:solidFill>
                  <a:schemeClr val="bg1"/>
                </a:solidFill>
              </a:rPr>
              <a:t>לרצף קצבה אפשר ליעד רק כספים שצבועים כקצבה.</a:t>
            </a:r>
          </a:p>
          <a:p>
            <a:pPr marL="742950" lvl="1" indent="-285750">
              <a:buFont typeface="Arial" panose="020B0604020202020204" pitchFamily="34" charset="0"/>
              <a:buChar char="•"/>
            </a:pPr>
            <a:r>
              <a:rPr lang="he-IL" dirty="0">
                <a:solidFill>
                  <a:schemeClr val="bg1"/>
                </a:solidFill>
              </a:rPr>
              <a:t>סכום המענק הפטור המצטבר לא יכול לעלות על תקרת הפטור – בדרך כלל, 13,750  (לשנת 2026) כפול מספר שנות עבודה כולל חלקי שנות עבודה.</a:t>
            </a:r>
          </a:p>
          <a:p>
            <a:pPr marL="742950" lvl="1" indent="-285750">
              <a:buFont typeface="Arial" panose="020B0604020202020204" pitchFamily="34" charset="0"/>
              <a:buChar char="•"/>
            </a:pPr>
            <a:r>
              <a:rPr lang="he-IL" dirty="0">
                <a:solidFill>
                  <a:schemeClr val="bg1"/>
                </a:solidFill>
              </a:rPr>
              <a:t>סך הסכומים בכל שורה יסתכם בסכום המקביל המופיע בסעיף 9.א</a:t>
            </a:r>
          </a:p>
        </p:txBody>
      </p:sp>
      <p:pic>
        <p:nvPicPr>
          <p:cNvPr id="5" name="תמונה 4">
            <a:extLst>
              <a:ext uri="{FF2B5EF4-FFF2-40B4-BE49-F238E27FC236}">
                <a16:creationId xmlns:a16="http://schemas.microsoft.com/office/drawing/2014/main" id="{260857D6-B540-6B9C-16C3-B1B27BF75F93}"/>
              </a:ext>
            </a:extLst>
          </p:cNvPr>
          <p:cNvPicPr>
            <a:picLocks noChangeAspect="1"/>
          </p:cNvPicPr>
          <p:nvPr/>
        </p:nvPicPr>
        <p:blipFill>
          <a:blip r:embed="rId2"/>
          <a:stretch>
            <a:fillRect/>
          </a:stretch>
        </p:blipFill>
        <p:spPr>
          <a:xfrm>
            <a:off x="3174716" y="1042973"/>
            <a:ext cx="8567784" cy="2789287"/>
          </a:xfrm>
          <a:prstGeom prst="rect">
            <a:avLst/>
          </a:prstGeom>
        </p:spPr>
      </p:pic>
    </p:spTree>
    <p:extLst>
      <p:ext uri="{BB962C8B-B14F-4D97-AF65-F5344CB8AC3E}">
        <p14:creationId xmlns:p14="http://schemas.microsoft.com/office/powerpoint/2010/main" val="138474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95BFA994-E7CA-73F0-FF9A-8E647096ECBF}"/>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B5EFE604-6532-F2ED-CB6B-29F7615DD58E}"/>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B81AE268-291F-0DB2-4122-DF019A15D1E4}"/>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4F9F5EE5-BFD8-9437-AFEC-A7D57280290E}"/>
              </a:ext>
            </a:extLst>
          </p:cNvPr>
          <p:cNvSpPr/>
          <p:nvPr/>
        </p:nvSpPr>
        <p:spPr>
          <a:xfrm>
            <a:off x="6939582" y="468308"/>
            <a:ext cx="4802917"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ב – הודעת העובד (המשך)</a:t>
            </a:r>
          </a:p>
        </p:txBody>
      </p:sp>
      <p:sp>
        <p:nvSpPr>
          <p:cNvPr id="9" name="תיבת טקסט 8">
            <a:extLst>
              <a:ext uri="{FF2B5EF4-FFF2-40B4-BE49-F238E27FC236}">
                <a16:creationId xmlns:a16="http://schemas.microsoft.com/office/drawing/2014/main" id="{FB42DD4B-2D35-E981-6F47-D4179220B608}"/>
              </a:ext>
            </a:extLst>
          </p:cNvPr>
          <p:cNvSpPr txBox="1"/>
          <p:nvPr/>
        </p:nvSpPr>
        <p:spPr>
          <a:xfrm>
            <a:off x="1950443" y="2759185"/>
            <a:ext cx="9792056" cy="2585323"/>
          </a:xfrm>
          <a:prstGeom prst="rect">
            <a:avLst/>
          </a:prstGeom>
          <a:noFill/>
        </p:spPr>
        <p:txBody>
          <a:bodyPr wrap="square">
            <a:spAutoFit/>
          </a:bodyPr>
          <a:lstStyle/>
          <a:p>
            <a:pPr marL="285750" indent="-285750">
              <a:buFontTx/>
              <a:buChar char="-"/>
            </a:pPr>
            <a:r>
              <a:rPr lang="he-IL" dirty="0">
                <a:solidFill>
                  <a:schemeClr val="bg1"/>
                </a:solidFill>
              </a:rPr>
              <a:t>במידה והעובד סימן סעיף בחלק זה יהיה עליו לפנות לרשות המיסים להוצאת אישורים מתאימים.</a:t>
            </a:r>
          </a:p>
          <a:p>
            <a:endParaRPr lang="he-IL" dirty="0">
              <a:solidFill>
                <a:schemeClr val="bg1"/>
              </a:solidFill>
            </a:endParaRPr>
          </a:p>
          <a:p>
            <a:pPr marL="285750" indent="-285750">
              <a:buFontTx/>
              <a:buChar char="-"/>
            </a:pPr>
            <a:r>
              <a:rPr lang="he-IL" dirty="0">
                <a:solidFill>
                  <a:schemeClr val="bg1"/>
                </a:solidFill>
              </a:rPr>
              <a:t>פריסת מענקי פרישה מיועדת בעיקר למי שפורש מעבודה ולא מתכוון לעבוד יותר. מדובר בפריסה לצורך חישוב המס לצורך הקטנת שיעור המס על מענק פרישה שנמשך על ידו. בכדי לבצע פריסה יש למלא טופס 116ג של רשות המיסים.</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ייעוד כספים לרצף זכויות פיצויים בגין כספים  שנתקבלו מקופת המעסיק או מקופה מרכזית לפיצויים, מיועד למי שמתכנן להמשיך לעבוד כשכיר. על העובד למצוא מעסיק חדש, תוך שנה מפרישתו ולייצר רצף מעסיקים. ניתן לבצע חרטה מייעוד לרצף זכויות פיצויים תוך שנתיים מבחירה לייעוד רצף.</a:t>
            </a:r>
          </a:p>
        </p:txBody>
      </p:sp>
      <p:pic>
        <p:nvPicPr>
          <p:cNvPr id="5" name="תמונה 4">
            <a:extLst>
              <a:ext uri="{FF2B5EF4-FFF2-40B4-BE49-F238E27FC236}">
                <a16:creationId xmlns:a16="http://schemas.microsoft.com/office/drawing/2014/main" id="{FEE098B3-04A3-BBA2-DD6D-832658BB004D}"/>
              </a:ext>
            </a:extLst>
          </p:cNvPr>
          <p:cNvPicPr>
            <a:picLocks noChangeAspect="1"/>
          </p:cNvPicPr>
          <p:nvPr/>
        </p:nvPicPr>
        <p:blipFill>
          <a:blip r:embed="rId2"/>
          <a:stretch>
            <a:fillRect/>
          </a:stretch>
        </p:blipFill>
        <p:spPr>
          <a:xfrm>
            <a:off x="2059145" y="1312054"/>
            <a:ext cx="9574652" cy="1166045"/>
          </a:xfrm>
          <a:prstGeom prst="rect">
            <a:avLst/>
          </a:prstGeom>
        </p:spPr>
      </p:pic>
    </p:spTree>
    <p:extLst>
      <p:ext uri="{BB962C8B-B14F-4D97-AF65-F5344CB8AC3E}">
        <p14:creationId xmlns:p14="http://schemas.microsoft.com/office/powerpoint/2010/main" val="418071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A602B55E-9147-7F74-BAA3-E95725677073}"/>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1FA829F8-97A5-DD8B-1DC3-A362A35F5092}"/>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5D285296-F4A1-5950-5428-838705F4263D}"/>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75D7005B-E432-574F-3F9D-A0E1795A90ED}"/>
              </a:ext>
            </a:extLst>
          </p:cNvPr>
          <p:cNvSpPr/>
          <p:nvPr/>
        </p:nvSpPr>
        <p:spPr>
          <a:xfrm>
            <a:off x="6939582" y="468308"/>
            <a:ext cx="4802917"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ב – הודעת העובד (המשך)</a:t>
            </a:r>
          </a:p>
        </p:txBody>
      </p:sp>
      <p:sp>
        <p:nvSpPr>
          <p:cNvPr id="9" name="תיבת טקסט 8">
            <a:extLst>
              <a:ext uri="{FF2B5EF4-FFF2-40B4-BE49-F238E27FC236}">
                <a16:creationId xmlns:a16="http://schemas.microsoft.com/office/drawing/2014/main" id="{CD94634A-815E-96F0-D37E-02D8DB0D83BC}"/>
              </a:ext>
            </a:extLst>
          </p:cNvPr>
          <p:cNvSpPr txBox="1"/>
          <p:nvPr/>
        </p:nvSpPr>
        <p:spPr>
          <a:xfrm>
            <a:off x="1950443" y="3267035"/>
            <a:ext cx="9792056" cy="2898229"/>
          </a:xfrm>
          <a:prstGeom prst="rect">
            <a:avLst/>
          </a:prstGeom>
          <a:noFill/>
        </p:spPr>
        <p:txBody>
          <a:bodyPr wrap="square">
            <a:spAutoFit/>
          </a:bodyPr>
          <a:lstStyle/>
          <a:p>
            <a:pPr marL="285750" indent="-285750">
              <a:buFontTx/>
              <a:buChar char="-"/>
            </a:pPr>
            <a:r>
              <a:rPr lang="he-IL" dirty="0">
                <a:solidFill>
                  <a:schemeClr val="bg1"/>
                </a:solidFill>
              </a:rPr>
              <a:t>הצהרות העובד. בחלק זה העובד יסמן את כל ההצהרות אשר הוא עומד בתנאי שלהן:</a:t>
            </a:r>
          </a:p>
          <a:p>
            <a:pPr marL="627063" indent="-360363">
              <a:buFont typeface="Arial" panose="020B0604020202020204" pitchFamily="34" charset="0"/>
              <a:buChar char="•"/>
            </a:pPr>
            <a:r>
              <a:rPr lang="he-IL" dirty="0">
                <a:solidFill>
                  <a:schemeClr val="bg1"/>
                </a:solidFill>
              </a:rPr>
              <a:t>הצהרה ראשונה - אם במהלך תקופת עבודתו אצל המעסיק ממנו פרש, לא קיבל ממעסיקים אחרים מענקי פרישה פטורים ממס.  </a:t>
            </a:r>
          </a:p>
          <a:p>
            <a:pPr marL="627063" indent="-360363">
              <a:lnSpc>
                <a:spcPts val="1500"/>
              </a:lnSpc>
              <a:buFont typeface="Arial" panose="020B0604020202020204" pitchFamily="34" charset="0"/>
              <a:buChar char="•"/>
            </a:pPr>
            <a:endParaRPr lang="he-IL" dirty="0">
              <a:solidFill>
                <a:schemeClr val="bg1"/>
              </a:solidFill>
            </a:endParaRPr>
          </a:p>
          <a:p>
            <a:pPr marL="627063" indent="-360363">
              <a:buFont typeface="Arial" panose="020B0604020202020204" pitchFamily="34" charset="0"/>
              <a:buChar char="•"/>
            </a:pPr>
            <a:r>
              <a:rPr lang="he-IL" dirty="0">
                <a:solidFill>
                  <a:schemeClr val="bg1"/>
                </a:solidFill>
              </a:rPr>
              <a:t>הצהרה שנייה – אם לא הגיש בקשה לרצף פיצויים בגין אירועי פרישה ממעסיקים אחרים.</a:t>
            </a:r>
          </a:p>
          <a:p>
            <a:pPr marL="285750" indent="-285750">
              <a:lnSpc>
                <a:spcPts val="1500"/>
              </a:lnSpc>
              <a:buFontTx/>
              <a:buChar char="-"/>
            </a:pPr>
            <a:endParaRPr lang="he-IL" dirty="0">
              <a:solidFill>
                <a:schemeClr val="bg1"/>
              </a:solidFill>
            </a:endParaRPr>
          </a:p>
          <a:p>
            <a:pPr marL="627063" indent="-360363">
              <a:buFont typeface="Arial" panose="020B0604020202020204" pitchFamily="34" charset="0"/>
              <a:buChar char="•"/>
            </a:pPr>
            <a:r>
              <a:rPr lang="he-IL" dirty="0">
                <a:solidFill>
                  <a:schemeClr val="bg1"/>
                </a:solidFill>
              </a:rPr>
              <a:t>הצהרה שלישית – אם העובד טרם הגיע לגיל הזכאות לקצבת גמלאות או שטרם הוגשה לפקיד השומה בקשה לפטור על הקצבה המזכה (מקופת גמל או ממעסיק) באמצעות קיבוע זכויות באמצעות טופס 161ד.</a:t>
            </a:r>
          </a:p>
          <a:p>
            <a:pPr marL="627063" indent="-360363">
              <a:lnSpc>
                <a:spcPts val="1600"/>
              </a:lnSpc>
              <a:buFont typeface="Arial" panose="020B0604020202020204" pitchFamily="34" charset="0"/>
              <a:buChar char="•"/>
            </a:pPr>
            <a:endParaRPr lang="he-IL" dirty="0">
              <a:solidFill>
                <a:schemeClr val="bg1"/>
              </a:solidFill>
            </a:endParaRPr>
          </a:p>
          <a:p>
            <a:pPr marL="266700" indent="-266700"/>
            <a:endParaRPr lang="he-IL" dirty="0">
              <a:solidFill>
                <a:schemeClr val="bg1"/>
              </a:solidFill>
            </a:endParaRPr>
          </a:p>
        </p:txBody>
      </p:sp>
      <p:pic>
        <p:nvPicPr>
          <p:cNvPr id="4" name="תמונה 3">
            <a:extLst>
              <a:ext uri="{FF2B5EF4-FFF2-40B4-BE49-F238E27FC236}">
                <a16:creationId xmlns:a16="http://schemas.microsoft.com/office/drawing/2014/main" id="{4DDA5F8F-1A11-82CA-B968-10432E499355}"/>
              </a:ext>
            </a:extLst>
          </p:cNvPr>
          <p:cNvPicPr>
            <a:picLocks noChangeAspect="1"/>
          </p:cNvPicPr>
          <p:nvPr/>
        </p:nvPicPr>
        <p:blipFill>
          <a:blip r:embed="rId2"/>
          <a:stretch>
            <a:fillRect/>
          </a:stretch>
        </p:blipFill>
        <p:spPr>
          <a:xfrm>
            <a:off x="2455524" y="1208178"/>
            <a:ext cx="9215056" cy="1822698"/>
          </a:xfrm>
          <a:prstGeom prst="rect">
            <a:avLst/>
          </a:prstGeom>
        </p:spPr>
      </p:pic>
    </p:spTree>
    <p:extLst>
      <p:ext uri="{BB962C8B-B14F-4D97-AF65-F5344CB8AC3E}">
        <p14:creationId xmlns:p14="http://schemas.microsoft.com/office/powerpoint/2010/main" val="1489303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78FA5524-1CEE-5A58-0EAD-0003E83476E9}"/>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EC364DEE-1877-B78B-7C18-D381643A8032}"/>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28CDFC29-0805-32F8-5283-54B5B141C0D1}"/>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00D6415D-783D-5DAE-A4B7-1D20760F1C19}"/>
              </a:ext>
            </a:extLst>
          </p:cNvPr>
          <p:cNvSpPr/>
          <p:nvPr/>
        </p:nvSpPr>
        <p:spPr>
          <a:xfrm>
            <a:off x="6939582" y="468308"/>
            <a:ext cx="4802917"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ב – הודעת העובד (המשך)</a:t>
            </a:r>
          </a:p>
        </p:txBody>
      </p:sp>
      <p:sp>
        <p:nvSpPr>
          <p:cNvPr id="9" name="תיבת טקסט 8">
            <a:extLst>
              <a:ext uri="{FF2B5EF4-FFF2-40B4-BE49-F238E27FC236}">
                <a16:creationId xmlns:a16="http://schemas.microsoft.com/office/drawing/2014/main" id="{F9F913C4-1239-B74F-FC3F-1C43F3ACE590}"/>
              </a:ext>
            </a:extLst>
          </p:cNvPr>
          <p:cNvSpPr txBox="1"/>
          <p:nvPr/>
        </p:nvSpPr>
        <p:spPr>
          <a:xfrm>
            <a:off x="2043554" y="1312054"/>
            <a:ext cx="9792056" cy="4247317"/>
          </a:xfrm>
          <a:prstGeom prst="rect">
            <a:avLst/>
          </a:prstGeom>
          <a:noFill/>
        </p:spPr>
        <p:txBody>
          <a:bodyPr wrap="square">
            <a:spAutoFit/>
          </a:bodyPr>
          <a:lstStyle/>
          <a:p>
            <a:pPr marL="285750" indent="-285750">
              <a:buFontTx/>
              <a:buChar char="-"/>
            </a:pPr>
            <a:r>
              <a:rPr lang="he-IL" dirty="0">
                <a:solidFill>
                  <a:schemeClr val="bg1"/>
                </a:solidFill>
              </a:rPr>
              <a:t>לאחר שהעובד מילא את חלק ב עליו להחזיר את הטופס למעסיק כדי שזה יעביר הוראות לקופות, בהתאם להנחיות העובד זאת, בהתקיימותם של התנאים שיפורטו בחלק ג.1 בטופס  161 החדש. לאחר מילוי חלק ג׳ על המעסיק למסור את הטופס לפקיד השומה ולעובד.</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עובד שלא סימן אף סעיף בחלק ב3 וביקש פטור על מענקי פרישה נדרש לפנות לפקיד השומה לצורך הוצאת אישורים.</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עובד שלא סימן אף סעיף בחלק ב3 </a:t>
            </a:r>
            <a:r>
              <a:rPr lang="he-IL" u="sng" dirty="0">
                <a:solidFill>
                  <a:schemeClr val="bg1"/>
                </a:solidFill>
              </a:rPr>
              <a:t>ולא</a:t>
            </a:r>
            <a:r>
              <a:rPr lang="he-IL" dirty="0">
                <a:solidFill>
                  <a:schemeClr val="bg1"/>
                </a:solidFill>
              </a:rPr>
              <a:t> ביקש פטור על מענקי פרישה עומד בתנאים לסמכות המעסיק בהעברת הנחיות.</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רשות המיסים קבעה שעל העובד להחזיר את הטופס לכל היותר תוך 10 ימים מהיום שבו המעסיק העביר לידי העובד את הטופס 161.</a:t>
            </a:r>
          </a:p>
          <a:p>
            <a:pPr marL="285750" indent="-285750">
              <a:buFontTx/>
              <a:buChar char="-"/>
            </a:pPr>
            <a:endParaRPr lang="he-IL" dirty="0">
              <a:solidFill>
                <a:schemeClr val="bg1"/>
              </a:solidFill>
            </a:endParaRPr>
          </a:p>
          <a:p>
            <a:pPr marL="266700"/>
            <a:r>
              <a:rPr lang="he-IL" dirty="0">
                <a:solidFill>
                  <a:schemeClr val="bg1"/>
                </a:solidFill>
              </a:rPr>
              <a:t>  </a:t>
            </a:r>
          </a:p>
          <a:p>
            <a:pPr marL="627063" indent="-360363">
              <a:buFont typeface="Arial" panose="020B0604020202020204" pitchFamily="34" charset="0"/>
              <a:buChar char="•"/>
            </a:pPr>
            <a:endParaRPr lang="he-IL" dirty="0">
              <a:solidFill>
                <a:schemeClr val="bg1"/>
              </a:solidFill>
            </a:endParaRPr>
          </a:p>
        </p:txBody>
      </p:sp>
    </p:spTree>
    <p:extLst>
      <p:ext uri="{BB962C8B-B14F-4D97-AF65-F5344CB8AC3E}">
        <p14:creationId xmlns:p14="http://schemas.microsoft.com/office/powerpoint/2010/main" val="4016670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9F053393-1962-8097-FDB3-AC54BBB1D7EB}"/>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50F5A4BC-3395-7B90-1656-FEC68E91D6BA}"/>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B6A241A0-57D4-30E7-92F0-B59759D6CDF2}"/>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621522A0-B243-EA71-7B4F-F5C7F2F173F6}"/>
              </a:ext>
            </a:extLst>
          </p:cNvPr>
          <p:cNvSpPr/>
          <p:nvPr/>
        </p:nvSpPr>
        <p:spPr>
          <a:xfrm>
            <a:off x="2500355" y="581324"/>
            <a:ext cx="9448420"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ג – חישוב המעסיק, הנחיות לקופות הגמל ודגשים לעובד</a:t>
            </a:r>
          </a:p>
        </p:txBody>
      </p:sp>
      <p:pic>
        <p:nvPicPr>
          <p:cNvPr id="4" name="תמונה 3">
            <a:extLst>
              <a:ext uri="{FF2B5EF4-FFF2-40B4-BE49-F238E27FC236}">
                <a16:creationId xmlns:a16="http://schemas.microsoft.com/office/drawing/2014/main" id="{ADCDD007-F618-8323-C972-17610345496B}"/>
              </a:ext>
            </a:extLst>
          </p:cNvPr>
          <p:cNvPicPr>
            <a:picLocks noChangeAspect="1"/>
          </p:cNvPicPr>
          <p:nvPr/>
        </p:nvPicPr>
        <p:blipFill>
          <a:blip r:embed="rId2"/>
          <a:stretch>
            <a:fillRect/>
          </a:stretch>
        </p:blipFill>
        <p:spPr>
          <a:xfrm>
            <a:off x="2233077" y="1227600"/>
            <a:ext cx="9448420" cy="2131816"/>
          </a:xfrm>
          <a:prstGeom prst="rect">
            <a:avLst/>
          </a:prstGeom>
        </p:spPr>
      </p:pic>
      <p:sp>
        <p:nvSpPr>
          <p:cNvPr id="5" name="תיבת טקסט 4">
            <a:extLst>
              <a:ext uri="{FF2B5EF4-FFF2-40B4-BE49-F238E27FC236}">
                <a16:creationId xmlns:a16="http://schemas.microsoft.com/office/drawing/2014/main" id="{5D9FEAE2-F008-6AFF-194D-F6E3F3CDFE40}"/>
              </a:ext>
            </a:extLst>
          </p:cNvPr>
          <p:cNvSpPr txBox="1"/>
          <p:nvPr/>
        </p:nvSpPr>
        <p:spPr>
          <a:xfrm>
            <a:off x="1889441" y="3603656"/>
            <a:ext cx="9792056" cy="2308324"/>
          </a:xfrm>
          <a:prstGeom prst="rect">
            <a:avLst/>
          </a:prstGeom>
          <a:noFill/>
        </p:spPr>
        <p:txBody>
          <a:bodyPr wrap="square">
            <a:spAutoFit/>
          </a:bodyPr>
          <a:lstStyle/>
          <a:p>
            <a:pPr marL="285750" indent="-285750">
              <a:buFontTx/>
              <a:buChar char="-"/>
            </a:pPr>
            <a:r>
              <a:rPr lang="he-IL" dirty="0">
                <a:solidFill>
                  <a:schemeClr val="bg1"/>
                </a:solidFill>
              </a:rPr>
              <a:t>חלופה ראשונה מיועד למצב שבו העובד לא החזיר את חלק ב' ובנוסף התקיימו מספר תנאים:</a:t>
            </a:r>
          </a:p>
          <a:p>
            <a:pPr marL="719138" indent="-358775">
              <a:buFont typeface="Arial" panose="020B0604020202020204" pitchFamily="34" charset="0"/>
              <a:buChar char="•"/>
            </a:pPr>
            <a:r>
              <a:rPr lang="he-IL" dirty="0">
                <a:solidFill>
                  <a:schemeClr val="bg1"/>
                </a:solidFill>
              </a:rPr>
              <a:t>כספי הקצבה הצבורים אינם עולים על התקרה לרצף קצבה.</a:t>
            </a:r>
          </a:p>
          <a:p>
            <a:pPr marL="719138" indent="-358775">
              <a:buFont typeface="Arial" panose="020B0604020202020204" pitchFamily="34" charset="0"/>
              <a:buChar char="•"/>
            </a:pPr>
            <a:r>
              <a:rPr lang="he-IL" dirty="0">
                <a:solidFill>
                  <a:schemeClr val="bg1"/>
                </a:solidFill>
              </a:rPr>
              <a:t>העובד אינו זכאי להשלמת חבות פיצויים או לסכומי מענק פרישה אחרים במזומן מקופת המעסיק.</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המעסיק יעביר הנחיה לקופות לבצע רצף קצבה לעובד.</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עובד שבעתיד ירצה למשוך את הכספים יידרש לבצע חרטה מרצף קצבה ולפעול מול רשות המיסים לצורך כך. </a:t>
            </a:r>
          </a:p>
        </p:txBody>
      </p:sp>
    </p:spTree>
    <p:extLst>
      <p:ext uri="{BB962C8B-B14F-4D97-AF65-F5344CB8AC3E}">
        <p14:creationId xmlns:p14="http://schemas.microsoft.com/office/powerpoint/2010/main" val="1693923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5FFE602F-8CA6-2AFA-30B8-0B85B29F397B}"/>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A02E0B17-CC3A-4A6B-69FF-55DCC1DE584A}"/>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FAC4B8CB-EFE1-5F29-6DC9-1205B2C9E768}"/>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BB7FA87E-5674-54D5-45C6-6BE43DEEEC51}"/>
              </a:ext>
            </a:extLst>
          </p:cNvPr>
          <p:cNvSpPr/>
          <p:nvPr/>
        </p:nvSpPr>
        <p:spPr>
          <a:xfrm>
            <a:off x="2500355" y="581324"/>
            <a:ext cx="9448420"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ג – חישוב המעסיק, הנחיות לקופות הגמל ודגשים לעובד</a:t>
            </a:r>
          </a:p>
        </p:txBody>
      </p:sp>
      <p:pic>
        <p:nvPicPr>
          <p:cNvPr id="6" name="תמונה 5">
            <a:extLst>
              <a:ext uri="{FF2B5EF4-FFF2-40B4-BE49-F238E27FC236}">
                <a16:creationId xmlns:a16="http://schemas.microsoft.com/office/drawing/2014/main" id="{05804928-8D98-64CC-B56B-451219E473C3}"/>
              </a:ext>
            </a:extLst>
          </p:cNvPr>
          <p:cNvPicPr>
            <a:picLocks noChangeAspect="1"/>
          </p:cNvPicPr>
          <p:nvPr/>
        </p:nvPicPr>
        <p:blipFill>
          <a:blip r:embed="rId2"/>
          <a:stretch>
            <a:fillRect/>
          </a:stretch>
        </p:blipFill>
        <p:spPr>
          <a:xfrm>
            <a:off x="1412669" y="1180787"/>
            <a:ext cx="10063566" cy="4367258"/>
          </a:xfrm>
          <a:prstGeom prst="rect">
            <a:avLst/>
          </a:prstGeom>
        </p:spPr>
      </p:pic>
    </p:spTree>
    <p:extLst>
      <p:ext uri="{BB962C8B-B14F-4D97-AF65-F5344CB8AC3E}">
        <p14:creationId xmlns:p14="http://schemas.microsoft.com/office/powerpoint/2010/main" val="2482288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54F2A8A6-E5C2-1A1B-B857-F07CB27C0CE3}"/>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E6EDA394-921F-060F-4130-DBDAFDDC58A7}"/>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93D9D37F-EE82-F207-0F39-7A38E590004D}"/>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9896790C-C9D7-12D0-C0B0-7CFDB0C2AC7F}"/>
              </a:ext>
            </a:extLst>
          </p:cNvPr>
          <p:cNvSpPr/>
          <p:nvPr/>
        </p:nvSpPr>
        <p:spPr>
          <a:xfrm>
            <a:off x="2500355" y="581324"/>
            <a:ext cx="9448420"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ג – חישוב המעסיק, הנחיות לקופות הגמל ודגשים לעובד</a:t>
            </a:r>
          </a:p>
        </p:txBody>
      </p:sp>
      <p:sp>
        <p:nvSpPr>
          <p:cNvPr id="3" name="תיבת טקסט 2">
            <a:extLst>
              <a:ext uri="{FF2B5EF4-FFF2-40B4-BE49-F238E27FC236}">
                <a16:creationId xmlns:a16="http://schemas.microsoft.com/office/drawing/2014/main" id="{038086D0-CDDD-BF76-4C05-60DC9A72D868}"/>
              </a:ext>
            </a:extLst>
          </p:cNvPr>
          <p:cNvSpPr txBox="1"/>
          <p:nvPr/>
        </p:nvSpPr>
        <p:spPr>
          <a:xfrm>
            <a:off x="2053827" y="1538086"/>
            <a:ext cx="9792056" cy="3416320"/>
          </a:xfrm>
          <a:prstGeom prst="rect">
            <a:avLst/>
          </a:prstGeom>
          <a:noFill/>
        </p:spPr>
        <p:txBody>
          <a:bodyPr wrap="square">
            <a:spAutoFit/>
          </a:bodyPr>
          <a:lstStyle/>
          <a:p>
            <a:pPr marL="285750" indent="-285750">
              <a:buFontTx/>
              <a:buChar char="-"/>
            </a:pPr>
            <a:r>
              <a:rPr lang="he-IL" dirty="0">
                <a:solidFill>
                  <a:schemeClr val="bg1"/>
                </a:solidFill>
              </a:rPr>
              <a:t>התנאים המאפשרים סמכות מעסיק למתן הוראות:</a:t>
            </a:r>
          </a:p>
          <a:p>
            <a:pPr marL="719138" indent="-358775">
              <a:buFont typeface="Arial" panose="020B0604020202020204" pitchFamily="34" charset="0"/>
              <a:buChar char="•"/>
            </a:pPr>
            <a:r>
              <a:rPr lang="he-IL" dirty="0">
                <a:solidFill>
                  <a:schemeClr val="bg1"/>
                </a:solidFill>
              </a:rPr>
              <a:t>ניהול כל כספי העובד תחת חברה מנהלת אחת.</a:t>
            </a:r>
          </a:p>
          <a:p>
            <a:pPr marL="719138" indent="-358775">
              <a:buFont typeface="Arial" panose="020B0604020202020204" pitchFamily="34" charset="0"/>
              <a:buChar char="•"/>
            </a:pPr>
            <a:r>
              <a:rPr lang="he-IL" dirty="0">
                <a:solidFill>
                  <a:schemeClr val="bg1"/>
                </a:solidFill>
              </a:rPr>
              <a:t>העובד אינו בעל שליטה במעסיק.</a:t>
            </a:r>
          </a:p>
          <a:p>
            <a:pPr marL="719138" indent="-358775">
              <a:buFont typeface="Arial" panose="020B0604020202020204" pitchFamily="34" charset="0"/>
              <a:buChar char="•"/>
            </a:pPr>
            <a:r>
              <a:rPr lang="he-IL" dirty="0">
                <a:solidFill>
                  <a:schemeClr val="bg1"/>
                </a:solidFill>
              </a:rPr>
              <a:t>במקרה פטור – הסכומים פטורים או משולמים כקצבת שארים.</a:t>
            </a:r>
          </a:p>
          <a:p>
            <a:pPr marL="719138" indent="-358775">
              <a:buFont typeface="Arial" panose="020B0604020202020204" pitchFamily="34" charset="0"/>
              <a:buChar char="•"/>
            </a:pPr>
            <a:r>
              <a:rPr lang="he-IL" dirty="0">
                <a:solidFill>
                  <a:schemeClr val="bg1"/>
                </a:solidFill>
              </a:rPr>
              <a:t>אין לעובד רכיב פיצויים מוכרת – פיצויים שחויבו במס בעת תשלומם לקופות.</a:t>
            </a:r>
          </a:p>
          <a:p>
            <a:pPr marL="719138" indent="-358775">
              <a:buFont typeface="Arial" panose="020B0604020202020204" pitchFamily="34" charset="0"/>
              <a:buChar char="•"/>
            </a:pPr>
            <a:r>
              <a:rPr lang="he-IL" dirty="0">
                <a:solidFill>
                  <a:schemeClr val="bg1"/>
                </a:solidFill>
              </a:rPr>
              <a:t>בקשת העובד הינה רק ביחס לסכומי המעסיק שפורטו בחלק א.13.</a:t>
            </a:r>
          </a:p>
          <a:p>
            <a:pPr marL="719138" indent="-358775">
              <a:buFont typeface="Arial" panose="020B0604020202020204" pitchFamily="34" charset="0"/>
              <a:buChar char="•"/>
            </a:pPr>
            <a:r>
              <a:rPr lang="he-IL" dirty="0">
                <a:solidFill>
                  <a:schemeClr val="bg1"/>
                </a:solidFill>
              </a:rPr>
              <a:t>העובד עומד בכל ההצהרות של ב3 או שאינו עומד בכולן אבל לא ביקש מענק בפטור ממס.</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המעסיק יציין את שיעור המס ביחס לכספים החייבים במס</a:t>
            </a:r>
          </a:p>
          <a:p>
            <a:pPr marL="285750" indent="-285750">
              <a:buFontTx/>
              <a:buChar char="-"/>
            </a:pPr>
            <a:endParaRPr lang="he-IL" dirty="0">
              <a:solidFill>
                <a:schemeClr val="bg1"/>
              </a:solidFill>
            </a:endParaRPr>
          </a:p>
          <a:p>
            <a:pPr marL="285750" indent="-285750">
              <a:buFontTx/>
              <a:buChar char="-"/>
            </a:pPr>
            <a:r>
              <a:rPr lang="he-IL" dirty="0">
                <a:solidFill>
                  <a:schemeClr val="bg1"/>
                </a:solidFill>
              </a:rPr>
              <a:t>המעסיק יסכם את בחירות העובד בחלק ב' בכפוף לתקרות, יחתום על הטופס ויעביר אותו לידי העובד ולידי רשות המיסים. על העובד להעביר את הטופס לקופות לצורך משיכת הכספים.</a:t>
            </a:r>
          </a:p>
        </p:txBody>
      </p:sp>
    </p:spTree>
    <p:extLst>
      <p:ext uri="{BB962C8B-B14F-4D97-AF65-F5344CB8AC3E}">
        <p14:creationId xmlns:p14="http://schemas.microsoft.com/office/powerpoint/2010/main" val="135300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20C29970-DB81-A4B0-FAE1-2A6A24F11F3F}"/>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9172569E-0416-7377-35B7-A7B88FFA79C4}"/>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11703E3D-E1F4-5633-AF22-EBD5089F39A2}"/>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F1E0B304-5991-122D-F5B7-5FD28364535C}"/>
              </a:ext>
            </a:extLst>
          </p:cNvPr>
          <p:cNvSpPr/>
          <p:nvPr/>
        </p:nvSpPr>
        <p:spPr>
          <a:xfrm>
            <a:off x="2500355" y="581324"/>
            <a:ext cx="9448420"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ג – חישוב המעסיק, הנחיות לקופות הגמל ודגשים לעובד</a:t>
            </a:r>
          </a:p>
        </p:txBody>
      </p:sp>
      <p:sp>
        <p:nvSpPr>
          <p:cNvPr id="3" name="תיבת טקסט 2">
            <a:extLst>
              <a:ext uri="{FF2B5EF4-FFF2-40B4-BE49-F238E27FC236}">
                <a16:creationId xmlns:a16="http://schemas.microsoft.com/office/drawing/2014/main" id="{01728B69-8DD8-658C-6084-505A7EC9831B}"/>
              </a:ext>
            </a:extLst>
          </p:cNvPr>
          <p:cNvSpPr txBox="1"/>
          <p:nvPr/>
        </p:nvSpPr>
        <p:spPr>
          <a:xfrm>
            <a:off x="1879166" y="3617681"/>
            <a:ext cx="9792056" cy="1754326"/>
          </a:xfrm>
          <a:prstGeom prst="rect">
            <a:avLst/>
          </a:prstGeom>
          <a:noFill/>
        </p:spPr>
        <p:txBody>
          <a:bodyPr wrap="square">
            <a:spAutoFit/>
          </a:bodyPr>
          <a:lstStyle/>
          <a:p>
            <a:pPr marL="285750" indent="-285750">
              <a:buFontTx/>
              <a:buChar char="-"/>
            </a:pPr>
            <a:endParaRPr lang="he-IL" dirty="0">
              <a:solidFill>
                <a:schemeClr val="bg1"/>
              </a:solidFill>
            </a:endParaRPr>
          </a:p>
          <a:p>
            <a:pPr marL="285750" indent="-285750">
              <a:buFontTx/>
              <a:buChar char="-"/>
            </a:pPr>
            <a:r>
              <a:rPr lang="he-IL" dirty="0">
                <a:solidFill>
                  <a:schemeClr val="bg1"/>
                </a:solidFill>
              </a:rPr>
              <a:t>ישנם מקרים בהם למעסיק אין סמכות להעביר הנחיה לקופות והעובד נדרש לפנות לרשות המיסים:</a:t>
            </a:r>
          </a:p>
          <a:p>
            <a:pPr marL="285750" indent="-285750">
              <a:buFontTx/>
              <a:buChar char="-"/>
            </a:pPr>
            <a:endParaRPr lang="he-IL" dirty="0">
              <a:solidFill>
                <a:schemeClr val="bg1"/>
              </a:solidFill>
            </a:endParaRPr>
          </a:p>
          <a:p>
            <a:pPr marL="719138" indent="-452438">
              <a:buFont typeface="Arial" panose="020B0604020202020204" pitchFamily="34" charset="0"/>
              <a:buChar char="•"/>
            </a:pPr>
            <a:r>
              <a:rPr lang="he-IL" dirty="0">
                <a:solidFill>
                  <a:schemeClr val="bg1"/>
                </a:solidFill>
              </a:rPr>
              <a:t>העובד לא החזיר את הטופס למעסיק אך לא כל הכספים שלו נמצאים בקופה לקצבה או שהוא זכאי להשלמת פיצויים.</a:t>
            </a:r>
          </a:p>
          <a:p>
            <a:pPr marL="719138" indent="-452438">
              <a:buFont typeface="Arial" panose="020B0604020202020204" pitchFamily="34" charset="0"/>
              <a:buChar char="•"/>
            </a:pPr>
            <a:r>
              <a:rPr lang="he-IL" dirty="0">
                <a:solidFill>
                  <a:schemeClr val="bg1"/>
                </a:solidFill>
              </a:rPr>
              <a:t>העובד לא עומד באחד מהתנאים שבחלק ג1 - יש לציין את התנאים בהם העובד לא עומד.</a:t>
            </a:r>
          </a:p>
        </p:txBody>
      </p:sp>
      <p:pic>
        <p:nvPicPr>
          <p:cNvPr id="5" name="תמונה 4">
            <a:extLst>
              <a:ext uri="{FF2B5EF4-FFF2-40B4-BE49-F238E27FC236}">
                <a16:creationId xmlns:a16="http://schemas.microsoft.com/office/drawing/2014/main" id="{16317F4C-4960-1567-4ADC-13F3B3854291}"/>
              </a:ext>
            </a:extLst>
          </p:cNvPr>
          <p:cNvPicPr>
            <a:picLocks noChangeAspect="1"/>
          </p:cNvPicPr>
          <p:nvPr/>
        </p:nvPicPr>
        <p:blipFill>
          <a:blip r:embed="rId2"/>
          <a:stretch>
            <a:fillRect/>
          </a:stretch>
        </p:blipFill>
        <p:spPr>
          <a:xfrm>
            <a:off x="2500355" y="1134590"/>
            <a:ext cx="9170867" cy="2294410"/>
          </a:xfrm>
          <a:prstGeom prst="rect">
            <a:avLst/>
          </a:prstGeom>
        </p:spPr>
      </p:pic>
    </p:spTree>
    <p:extLst>
      <p:ext uri="{BB962C8B-B14F-4D97-AF65-F5344CB8AC3E}">
        <p14:creationId xmlns:p14="http://schemas.microsoft.com/office/powerpoint/2010/main" val="2211619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C3FECDD6-1F8D-88AB-7791-8D8A9DC7FC54}"/>
            </a:ext>
          </a:extLst>
        </p:cNvPr>
        <p:cNvGrpSpPr/>
        <p:nvPr/>
      </p:nvGrpSpPr>
      <p:grpSpPr>
        <a:xfrm>
          <a:off x="0" y="0"/>
          <a:ext cx="0" cy="0"/>
          <a:chOff x="0" y="0"/>
          <a:chExt cx="0" cy="0"/>
        </a:xfrm>
      </p:grpSpPr>
      <p:sp>
        <p:nvSpPr>
          <p:cNvPr id="11" name="מלבן 10">
            <a:extLst>
              <a:ext uri="{FF2B5EF4-FFF2-40B4-BE49-F238E27FC236}">
                <a16:creationId xmlns:a16="http://schemas.microsoft.com/office/drawing/2014/main" id="{9C77CBA5-AFC7-E3C5-7B7A-5919EDBA2CA1}"/>
              </a:ext>
            </a:extLst>
          </p:cNvPr>
          <p:cNvSpPr/>
          <p:nvPr/>
        </p:nvSpPr>
        <p:spPr>
          <a:xfrm>
            <a:off x="129309" y="147782"/>
            <a:ext cx="11905673" cy="6613236"/>
          </a:xfrm>
          <a:prstGeom prst="rect">
            <a:avLst/>
          </a:prstGeom>
          <a:noFill/>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entury Gothic" panose="020B0502020202020204"/>
              <a:ea typeface="+mn-ea"/>
              <a:cs typeface="Gisha" panose="020B0502040204020203" pitchFamily="34" charset="-79"/>
            </a:endParaRPr>
          </a:p>
        </p:txBody>
      </p:sp>
      <p:sp>
        <p:nvSpPr>
          <p:cNvPr id="2" name="מלבן 1">
            <a:extLst>
              <a:ext uri="{FF2B5EF4-FFF2-40B4-BE49-F238E27FC236}">
                <a16:creationId xmlns:a16="http://schemas.microsoft.com/office/drawing/2014/main" id="{6846E237-6322-93D8-34B5-C3A06FBAD9A8}"/>
              </a:ext>
            </a:extLst>
          </p:cNvPr>
          <p:cNvSpPr/>
          <p:nvPr/>
        </p:nvSpPr>
        <p:spPr>
          <a:xfrm>
            <a:off x="157018" y="5817666"/>
            <a:ext cx="4038285" cy="892552"/>
          </a:xfrm>
          <a:prstGeom prst="rect">
            <a:avLst/>
          </a:prstGeom>
          <a:noFill/>
        </p:spPr>
        <p:txBody>
          <a:bodyPr wrap="none" lIns="91440" tIns="45720" rIns="91440" bIns="45720">
            <a:spAutoFit/>
          </a:bodyPr>
          <a:lstStyle/>
          <a:p>
            <a:pPr algn="ctr"/>
            <a:r>
              <a:rPr lang="he-IL" sz="32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חגי זך</a:t>
            </a:r>
          </a:p>
          <a:p>
            <a:pPr algn="ctr"/>
            <a:r>
              <a:rPr lang="he-IL" sz="2000" b="1" dirty="0">
                <a:ln w="9525">
                  <a:solidFill>
                    <a:schemeClr val="bg1"/>
                  </a:solidFill>
                  <a:prstDash val="solid"/>
                </a:ln>
                <a:effectLst>
                  <a:outerShdw blurRad="12700" dist="38100" dir="2700000" algn="tl" rotWithShape="0">
                    <a:schemeClr val="bg1">
                      <a:lumMod val="50000"/>
                    </a:schemeClr>
                  </a:outerShdw>
                </a:effectLst>
                <a:latin typeface="Aptos" panose="02110004020202020204"/>
                <a:cs typeface="Arial" panose="020B0604020202020204" pitchFamily="34" charset="0"/>
              </a:rPr>
              <a:t>פיתוח מערכות, ייעוץ מקצועי והדרכות</a:t>
            </a:r>
          </a:p>
        </p:txBody>
      </p:sp>
      <p:sp>
        <p:nvSpPr>
          <p:cNvPr id="15" name="מלבן 14">
            <a:extLst>
              <a:ext uri="{FF2B5EF4-FFF2-40B4-BE49-F238E27FC236}">
                <a16:creationId xmlns:a16="http://schemas.microsoft.com/office/drawing/2014/main" id="{C03F90EF-DA89-A7BC-BDE1-C4F5545FFC46}"/>
              </a:ext>
            </a:extLst>
          </p:cNvPr>
          <p:cNvSpPr/>
          <p:nvPr/>
        </p:nvSpPr>
        <p:spPr>
          <a:xfrm>
            <a:off x="2500355" y="581324"/>
            <a:ext cx="9448420" cy="523220"/>
          </a:xfrm>
          <a:prstGeom prst="rect">
            <a:avLst/>
          </a:prstGeom>
          <a:noFill/>
        </p:spPr>
        <p:txBody>
          <a:bodyPr wrap="none" lIns="91440" tIns="45720" rIns="91440" bIns="45720">
            <a:spAutoFit/>
            <a:scene3d>
              <a:camera prst="obliqueTopRight"/>
              <a:lightRig rig="threePt" dir="t"/>
            </a:scene3d>
          </a:bodyPr>
          <a:lstStyle/>
          <a:p>
            <a:pPr algn="ctr"/>
            <a:r>
              <a:rPr lang="he-IL" sz="2800" b="1" spc="50" dirty="0">
                <a:ln w="0">
                  <a:noFill/>
                </a:ln>
                <a:solidFill>
                  <a:srgbClr val="0E2841">
                    <a:lumMod val="50000"/>
                    <a:lumOff val="50000"/>
                  </a:srgbClr>
                </a:solidFill>
                <a:effectLst>
                  <a:outerShdw blurRad="50800" dist="38100" dir="10800000" algn="r" rotWithShape="0">
                    <a:prstClr val="black">
                      <a:alpha val="40000"/>
                    </a:prstClr>
                  </a:outerShdw>
                </a:effectLst>
                <a:latin typeface="Aptos" panose="02110004020202020204"/>
                <a:cs typeface="Arial" panose="020B0604020202020204" pitchFamily="34" charset="0"/>
              </a:rPr>
              <a:t>חלק ג – חישוב המעסיק, הנחיות לקופות הגמל ודגשים לעובד</a:t>
            </a:r>
          </a:p>
        </p:txBody>
      </p:sp>
      <p:sp>
        <p:nvSpPr>
          <p:cNvPr id="3" name="תיבת טקסט 2">
            <a:extLst>
              <a:ext uri="{FF2B5EF4-FFF2-40B4-BE49-F238E27FC236}">
                <a16:creationId xmlns:a16="http://schemas.microsoft.com/office/drawing/2014/main" id="{5329FB5F-3EAB-63FD-011A-46F8FF82B41A}"/>
              </a:ext>
            </a:extLst>
          </p:cNvPr>
          <p:cNvSpPr txBox="1"/>
          <p:nvPr/>
        </p:nvSpPr>
        <p:spPr>
          <a:xfrm>
            <a:off x="1879166" y="3617681"/>
            <a:ext cx="9792056" cy="646331"/>
          </a:xfrm>
          <a:prstGeom prst="rect">
            <a:avLst/>
          </a:prstGeom>
          <a:noFill/>
        </p:spPr>
        <p:txBody>
          <a:bodyPr wrap="square">
            <a:spAutoFit/>
          </a:bodyPr>
          <a:lstStyle/>
          <a:p>
            <a:pPr marL="285750" indent="-285750">
              <a:buFontTx/>
              <a:buChar char="-"/>
            </a:pPr>
            <a:endParaRPr lang="he-IL" dirty="0">
              <a:solidFill>
                <a:schemeClr val="bg1"/>
              </a:solidFill>
            </a:endParaRPr>
          </a:p>
          <a:p>
            <a:pPr marL="285750" indent="-285750">
              <a:buFontTx/>
              <a:buChar char="-"/>
            </a:pPr>
            <a:r>
              <a:rPr lang="he-IL" dirty="0">
                <a:solidFill>
                  <a:schemeClr val="bg1"/>
                </a:solidFill>
              </a:rPr>
              <a:t>המעסיק נדרש לחתום על ההצהרה שבחלק ג.3</a:t>
            </a:r>
          </a:p>
        </p:txBody>
      </p:sp>
      <p:pic>
        <p:nvPicPr>
          <p:cNvPr id="6" name="תמונה 5">
            <a:extLst>
              <a:ext uri="{FF2B5EF4-FFF2-40B4-BE49-F238E27FC236}">
                <a16:creationId xmlns:a16="http://schemas.microsoft.com/office/drawing/2014/main" id="{F7BEFAE9-2061-BC4B-ADAF-A1AE2746BDEF}"/>
              </a:ext>
            </a:extLst>
          </p:cNvPr>
          <p:cNvPicPr>
            <a:picLocks noChangeAspect="1"/>
          </p:cNvPicPr>
          <p:nvPr/>
        </p:nvPicPr>
        <p:blipFill>
          <a:blip r:embed="rId2"/>
          <a:stretch>
            <a:fillRect/>
          </a:stretch>
        </p:blipFill>
        <p:spPr>
          <a:xfrm>
            <a:off x="3026867" y="1391955"/>
            <a:ext cx="8644356" cy="1628647"/>
          </a:xfrm>
          <a:prstGeom prst="rect">
            <a:avLst/>
          </a:prstGeom>
        </p:spPr>
      </p:pic>
    </p:spTree>
    <p:extLst>
      <p:ext uri="{BB962C8B-B14F-4D97-AF65-F5344CB8AC3E}">
        <p14:creationId xmlns:p14="http://schemas.microsoft.com/office/powerpoint/2010/main" val="1604619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64ADB13E-DCC8-01AB-1364-284877F2447C}"/>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DE0D2870-DC53-A45D-051A-69A58C8ABB82}"/>
              </a:ext>
            </a:extLst>
          </p:cNvPr>
          <p:cNvSpPr/>
          <p:nvPr/>
        </p:nvSpPr>
        <p:spPr>
          <a:xfrm>
            <a:off x="1737469" y="2209953"/>
            <a:ext cx="9289724" cy="144655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he-IL" sz="8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תודה על ההקשבה</a:t>
            </a:r>
          </a:p>
        </p:txBody>
      </p:sp>
    </p:spTree>
    <p:extLst>
      <p:ext uri="{BB962C8B-B14F-4D97-AF65-F5344CB8AC3E}">
        <p14:creationId xmlns:p14="http://schemas.microsoft.com/office/powerpoint/2010/main" val="1490789402"/>
      </p:ext>
    </p:extLst>
  </p:cSld>
  <p:clrMapOvr>
    <a:masterClrMapping/>
  </p:clrMapOvr>
</p:sld>
</file>

<file path=ppt/theme/theme1.xml><?xml version="1.0" encoding="utf-8"?>
<a:theme xmlns:a="http://schemas.openxmlformats.org/drawingml/2006/main" name="עיצוב מותאם אישית">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תבנית עם לוגו" id="{D79D86DF-7A1F-43BF-95AD-693B20F57F34}" vid="{ABFAFA87-18D6-428B-BBC2-1EDC03BF0EA2}"/>
    </a:ext>
  </a:ext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תבנית עם לוגו" id="{D79D86DF-7A1F-43BF-95AD-693B20F57F34}" vid="{E886F47E-3343-4383-91F3-21600233D9B9}"/>
    </a:ext>
  </a:extLst>
</a:theme>
</file>

<file path=ppt/theme/theme3.xml><?xml version="1.0" encoding="utf-8"?>
<a:theme xmlns:a="http://schemas.openxmlformats.org/drawingml/2006/main" name="פרוסה">
  <a:themeElements>
    <a:clrScheme name="התאמה אישית 2">
      <a:dk1>
        <a:sysClr val="windowText" lastClr="000000"/>
      </a:dk1>
      <a:lt1>
        <a:sysClr val="window" lastClr="FFFFFF"/>
      </a:lt1>
      <a:dk2>
        <a:srgbClr val="146194"/>
      </a:dk2>
      <a:lt2>
        <a:srgbClr val="E3F7FC"/>
      </a:lt2>
      <a:accent1>
        <a:srgbClr val="052F61"/>
      </a:accent1>
      <a:accent2>
        <a:srgbClr val="A50E82"/>
      </a:accent2>
      <a:accent3>
        <a:srgbClr val="14967C"/>
      </a:accent3>
      <a:accent4>
        <a:srgbClr val="92D050"/>
      </a:accent4>
      <a:accent5>
        <a:srgbClr val="E87D37"/>
      </a:accent5>
      <a:accent6>
        <a:srgbClr val="F5CBAF"/>
      </a:accent6>
      <a:hlink>
        <a:srgbClr val="B1D3FA"/>
      </a:hlink>
      <a:folHlink>
        <a:srgbClr val="C2E2F6"/>
      </a:folHlink>
    </a:clrScheme>
    <a:fontScheme name="פרוסה">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פרוסה">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מצגת2" id="{955BA5AF-4DEE-4DCD-A73B-C0A15EC0A6DC}" vid="{8299B54A-8ECB-4679-B153-818062BC2115}"/>
    </a:ext>
  </a:extLst>
</a:theme>
</file>

<file path=ppt/theme/theme4.xml><?xml version="1.0" encoding="utf-8"?>
<a:theme xmlns:a="http://schemas.openxmlformats.org/drawingml/2006/main" name="1_עיצוב מותאם אישית">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מצגת קרן השתלמות 2026</Template>
  <TotalTime>2996</TotalTime>
  <Words>3323</Words>
  <Application>Microsoft Office PowerPoint</Application>
  <PresentationFormat>מסך רחב</PresentationFormat>
  <Paragraphs>320</Paragraphs>
  <Slides>34</Slides>
  <Notes>3</Notes>
  <HiddenSlides>0</HiddenSlides>
  <MMClips>0</MMClips>
  <ScaleCrop>false</ScaleCrop>
  <HeadingPairs>
    <vt:vector size="6" baseType="variant">
      <vt:variant>
        <vt:lpstr>גופנים בשימוש</vt:lpstr>
      </vt:variant>
      <vt:variant>
        <vt:i4>5</vt:i4>
      </vt:variant>
      <vt:variant>
        <vt:lpstr>ערכת נושא</vt:lpstr>
      </vt:variant>
      <vt:variant>
        <vt:i4>4</vt:i4>
      </vt:variant>
      <vt:variant>
        <vt:lpstr>כותרות שקופיות</vt:lpstr>
      </vt:variant>
      <vt:variant>
        <vt:i4>34</vt:i4>
      </vt:variant>
    </vt:vector>
  </HeadingPairs>
  <TitlesOfParts>
    <vt:vector size="43" baseType="lpstr">
      <vt:lpstr>Aptos</vt:lpstr>
      <vt:lpstr>Aptos Display</vt:lpstr>
      <vt:lpstr>Arial</vt:lpstr>
      <vt:lpstr>Century Gothic</vt:lpstr>
      <vt:lpstr>Wingdings 3</vt:lpstr>
      <vt:lpstr>עיצוב מותאם אישית</vt:lpstr>
      <vt:lpstr>1_ערכת נושא Office</vt:lpstr>
      <vt:lpstr>פרוסה</vt:lpstr>
      <vt:lpstr>1_עיצוב מותאם אישית</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חגי זך</dc:creator>
  <cp:lastModifiedBy>hagay zach</cp:lastModifiedBy>
  <cp:revision>9</cp:revision>
  <dcterms:created xsi:type="dcterms:W3CDTF">2026-03-23T06:53:16Z</dcterms:created>
  <dcterms:modified xsi:type="dcterms:W3CDTF">2026-04-17T11:45:56Z</dcterms:modified>
</cp:coreProperties>
</file>